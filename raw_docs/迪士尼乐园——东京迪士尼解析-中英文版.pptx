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3"/>
    <p:sldId id="257" r:id="rId4"/>
    <p:sldId id="286" r:id="rId5"/>
    <p:sldId id="260" r:id="rId6"/>
    <p:sldId id="262" r:id="rId7"/>
    <p:sldId id="263" r:id="rId8"/>
    <p:sldId id="285" r:id="rId9"/>
    <p:sldId id="265" r:id="rId10"/>
    <p:sldId id="290" r:id="rId11"/>
    <p:sldId id="284" r:id="rId12"/>
    <p:sldId id="266" r:id="rId13"/>
    <p:sldId id="267" r:id="rId14"/>
    <p:sldId id="268" r:id="rId15"/>
    <p:sldId id="269" r:id="rId16"/>
    <p:sldId id="289" r:id="rId17"/>
    <p:sldId id="288" r:id="rId18"/>
    <p:sldId id="271" r:id="rId19"/>
    <p:sldId id="279" r:id="rId20"/>
    <p:sldId id="280" r:id="rId21"/>
    <p:sldId id="272" r:id="rId22"/>
    <p:sldId id="273" r:id="rId23"/>
    <p:sldId id="274" r:id="rId24"/>
    <p:sldId id="275" r:id="rId25"/>
    <p:sldId id="277" r:id="rId26"/>
    <p:sldId id="281" r:id="rId27"/>
    <p:sldId id="278" r:id="rId28"/>
    <p:sldId id="270" r:id="rId29"/>
    <p:sldId id="291" r:id="rId30"/>
    <p:sldId id="292" r:id="rId31"/>
    <p:sldId id="293" r:id="rId32"/>
    <p:sldId id="294" r:id="rId33"/>
    <p:sldId id="282" r:id="rId34"/>
  </p:sldIdLst>
  <p:sldSz cx="9144000" cy="6858000" type="screen4x3"/>
  <p:notesSz cx="6858000" cy="9144000"/>
  <p:defaultTextStyle>
    <a:defPPr>
      <a:defRPr lang="zh-CN"/>
    </a:defPPr>
    <a:lvl1pPr marL="0" lvl="0"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160"/>
        <p:guide pos="2880"/>
      </p:guideLst>
    </p:cSldViewPr>
  </p:slide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3659124" cy="48736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265676" y="1600200"/>
            <a:ext cx="3659124" cy="48736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057900" y="274638"/>
            <a:ext cx="1866900" cy="61991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5492474" cy="61991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eaLnBrk="1" hangingPunct="1"/>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直接连接符 15"/>
          <p:cNvSpPr/>
          <p:nvPr/>
        </p:nvSpPr>
        <p:spPr>
          <a:xfrm>
            <a:off x="8763000" y="0"/>
            <a:ext cx="0" cy="6858000"/>
          </a:xfrm>
          <a:prstGeom prst="line">
            <a:avLst/>
          </a:prstGeom>
          <a:ln w="38100" cap="flat" cmpd="sng">
            <a:solidFill>
              <a:srgbClr val="FEC2AD">
                <a:alpha val="92000"/>
              </a:srgbClr>
            </a:solidFill>
            <a:prstDash val="solid"/>
            <a:miter/>
            <a:headEnd type="none" w="med" len="med"/>
            <a:tailEnd type="none" w="med" len="med"/>
          </a:ln>
        </p:spPr>
      </p:sp>
      <p:sp>
        <p:nvSpPr>
          <p:cNvPr id="1027" name="标题占位符 21"/>
          <p:cNvSpPr>
            <a:spLocks noGrp="1"/>
          </p:cNvSpPr>
          <p:nvPr>
            <p:ph type="title"/>
          </p:nvPr>
        </p:nvSpPr>
        <p:spPr>
          <a:xfrm>
            <a:off x="457200" y="274638"/>
            <a:ext cx="7467600" cy="1143000"/>
          </a:xfrm>
          <a:prstGeom prst="rect">
            <a:avLst/>
          </a:prstGeom>
          <a:noFill/>
          <a:ln w="9525">
            <a:noFill/>
          </a:ln>
        </p:spPr>
        <p:txBody>
          <a:bodyPr anchor="b" anchorCtr="0"/>
          <a:p>
            <a:pPr lvl="0"/>
            <a:r>
              <a:rPr lang="zh-CN" altLang="en-US"/>
              <a:t>单击此处编辑母版标题样式</a:t>
            </a:r>
            <a:endParaRPr lang="zh-CN" altLang="en-US"/>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9" name="日期占位符 13"/>
          <p:cNvSpPr>
            <a:spLocks noGrp="1"/>
          </p:cNvSpPr>
          <p:nvPr>
            <p:ph type="dt" sz="half" idx="2"/>
          </p:nvPr>
        </p:nvSpPr>
        <p:spPr>
          <a:xfrm rot="5400000">
            <a:off x="7588250" y="1081088"/>
            <a:ext cx="2011363" cy="384175"/>
          </a:xfrm>
          <a:prstGeom prst="rect">
            <a:avLst/>
          </a:prstGeom>
          <a:noFill/>
          <a:ln w="9525">
            <a:noFill/>
          </a:ln>
        </p:spPr>
        <p:txBody>
          <a:bodyPr anchor="ctr" anchorCtr="0"/>
          <a:lstStyle>
            <a:lvl1pPr algn="r">
              <a:defRPr sz="1200">
                <a:solidFill>
                  <a:schemeClr val="tx2"/>
                </a:solidFill>
              </a:defRPr>
            </a:lvl1pPr>
          </a:lstStyle>
          <a:p>
            <a:pPr lvl="0" eaLnBrk="1" hangingPunct="1"/>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1030" name="页脚占位符 2"/>
          <p:cNvSpPr>
            <a:spLocks noGrp="1"/>
          </p:cNvSpPr>
          <p:nvPr>
            <p:ph type="ftr" sz="quarter" idx="3"/>
          </p:nvPr>
        </p:nvSpPr>
        <p:spPr>
          <a:xfrm rot="5400000">
            <a:off x="6989763" y="3736975"/>
            <a:ext cx="3200400" cy="365125"/>
          </a:xfrm>
          <a:prstGeom prst="rect">
            <a:avLst/>
          </a:prstGeom>
          <a:noFill/>
          <a:ln w="9525">
            <a:noFill/>
          </a:ln>
        </p:spPr>
        <p:txBody>
          <a:bodyPr anchor="ctr" anchorCtr="0"/>
          <a:lstStyle>
            <a:lvl1pPr>
              <a:defRPr sz="1200">
                <a:solidFill>
                  <a:schemeClr val="tx2"/>
                </a:solidFill>
              </a:defRPr>
            </a:lvl1pPr>
          </a:lstStyle>
          <a:p>
            <a:pPr lvl="0" eaLnBrk="1" hangingPunct="1"/>
            <a:endParaRPr lang="zh-CN" altLang="en-US" dirty="0">
              <a:latin typeface="Arial" panose="020B0604020202020204" pitchFamily="34" charset="0"/>
            </a:endParaRPr>
          </a:p>
        </p:txBody>
      </p:sp>
      <p:sp>
        <p:nvSpPr>
          <p:cNvPr id="1031" name="直接连接符 6"/>
          <p:cNvSpPr/>
          <p:nvPr/>
        </p:nvSpPr>
        <p:spPr>
          <a:xfrm>
            <a:off x="76200" y="0"/>
            <a:ext cx="0" cy="6858000"/>
          </a:xfrm>
          <a:prstGeom prst="line">
            <a:avLst/>
          </a:prstGeom>
          <a:ln w="57150" cap="flat" cmpd="thickThin">
            <a:solidFill>
              <a:srgbClr val="FEC2AD"/>
            </a:solidFill>
            <a:prstDash val="solid"/>
            <a:miter/>
            <a:headEnd type="none" w="med" len="med"/>
            <a:tailEnd type="none" w="med" len="med"/>
          </a:ln>
        </p:spPr>
      </p:sp>
      <p:sp>
        <p:nvSpPr>
          <p:cNvPr id="1032" name="直接连接符 8"/>
          <p:cNvSpPr/>
          <p:nvPr/>
        </p:nvSpPr>
        <p:spPr>
          <a:xfrm>
            <a:off x="8991600" y="0"/>
            <a:ext cx="0" cy="6858000"/>
          </a:xfrm>
          <a:prstGeom prst="line">
            <a:avLst/>
          </a:prstGeom>
          <a:ln w="19050" cap="flat" cmpd="sng">
            <a:solidFill>
              <a:schemeClr val="accent1"/>
            </a:solidFill>
            <a:prstDash val="solid"/>
            <a:miter/>
            <a:headEnd type="none" w="med" len="med"/>
            <a:tailEnd type="none" w="med" len="med"/>
          </a:ln>
        </p:spPr>
      </p:sp>
      <p:sp>
        <p:nvSpPr>
          <p:cNvPr id="1033" name="矩形 9"/>
          <p:cNvSpPr/>
          <p:nvPr/>
        </p:nvSpPr>
        <p:spPr>
          <a:xfrm>
            <a:off x="8839200" y="0"/>
            <a:ext cx="304800" cy="6858000"/>
          </a:xfrm>
          <a:prstGeom prst="rect">
            <a:avLst/>
          </a:prstGeom>
          <a:solidFill>
            <a:srgbClr val="FEC2AD">
              <a:alpha val="87000"/>
            </a:srgbClr>
          </a:solidFill>
          <a:ln w="9525">
            <a:noFill/>
          </a:ln>
        </p:spPr>
        <p:txBody>
          <a:bodyPr anchor="ctr" anchorCtr="0"/>
          <a:p>
            <a:pPr lvl="0" algn="ctr" eaLnBrk="1" hangingPunct="1"/>
            <a:endParaRPr lang="zh-CN" altLang="en-US" dirty="0">
              <a:solidFill>
                <a:srgbClr val="FFFFFF"/>
              </a:solidFill>
              <a:latin typeface="Century Schoolbook" pitchFamily="2" charset="0"/>
              <a:sym typeface="Century Schoolbook" pitchFamily="2" charset="0"/>
            </a:endParaRPr>
          </a:p>
        </p:txBody>
      </p:sp>
      <p:sp>
        <p:nvSpPr>
          <p:cNvPr id="1034" name="直接连接符 10"/>
          <p:cNvSpPr/>
          <p:nvPr/>
        </p:nvSpPr>
        <p:spPr>
          <a:xfrm>
            <a:off x="8915400" y="0"/>
            <a:ext cx="0" cy="6858000"/>
          </a:xfrm>
          <a:prstGeom prst="line">
            <a:avLst/>
          </a:prstGeom>
          <a:ln w="9525" cap="flat" cmpd="sng">
            <a:solidFill>
              <a:schemeClr val="accent1"/>
            </a:solidFill>
            <a:prstDash val="solid"/>
            <a:miter/>
            <a:headEnd type="none" w="med" len="med"/>
            <a:tailEnd type="none" w="med" len="med"/>
          </a:ln>
        </p:spPr>
      </p:sp>
      <p:sp>
        <p:nvSpPr>
          <p:cNvPr id="1035" name="椭圆 11"/>
          <p:cNvSpPr/>
          <p:nvPr/>
        </p:nvSpPr>
        <p:spPr>
          <a:xfrm>
            <a:off x="8156575" y="5715000"/>
            <a:ext cx="549275" cy="549275"/>
          </a:xfrm>
          <a:prstGeom prst="ellipse">
            <a:avLst/>
          </a:prstGeom>
          <a:solidFill>
            <a:schemeClr val="accent1"/>
          </a:solidFill>
          <a:ln w="9525">
            <a:noFill/>
          </a:ln>
        </p:spPr>
        <p:txBody>
          <a:bodyPr anchor="ctr" anchorCtr="0"/>
          <a:p>
            <a:pPr lvl="0" algn="ctr" eaLnBrk="1" hangingPunct="1"/>
            <a:endParaRPr lang="zh-CN" altLang="en-US" dirty="0">
              <a:solidFill>
                <a:srgbClr val="FFFFFF"/>
              </a:solidFill>
              <a:latin typeface="Century Schoolbook" pitchFamily="2" charset="0"/>
              <a:sym typeface="Century Schoolbook" pitchFamily="2" charset="0"/>
            </a:endParaRPr>
          </a:p>
        </p:txBody>
      </p:sp>
      <p:sp>
        <p:nvSpPr>
          <p:cNvPr id="1036" name="灯片编号占位符 22"/>
          <p:cNvSpPr>
            <a:spLocks noGrp="1"/>
          </p:cNvSpPr>
          <p:nvPr>
            <p:ph type="sldNum" sz="quarter" idx="4"/>
          </p:nvPr>
        </p:nvSpPr>
        <p:spPr>
          <a:xfrm>
            <a:off x="8129588" y="5734050"/>
            <a:ext cx="609600" cy="520700"/>
          </a:xfrm>
          <a:prstGeom prst="rect">
            <a:avLst/>
          </a:prstGeom>
          <a:noFill/>
          <a:ln w="9525">
            <a:noFill/>
          </a:ln>
        </p:spPr>
        <p:txBody>
          <a:bodyPr anchor="ctr" anchorCtr="0"/>
          <a:lstStyle>
            <a:lvl1pPr algn="ctr">
              <a:defRPr sz="1400" b="1">
                <a:solidFill>
                  <a:srgbClr val="FFFFFF"/>
                </a:solidFill>
              </a:defRPr>
            </a:lvl1p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eaLnBrk="0" fontAlgn="base" latinLnBrk="0" hangingPunct="0">
        <a:lnSpc>
          <a:spcPct val="100000"/>
        </a:lnSpc>
        <a:spcBef>
          <a:spcPct val="0"/>
        </a:spcBef>
        <a:spcAft>
          <a:spcPct val="0"/>
        </a:spcAft>
        <a:buNone/>
        <a:defRPr sz="3000" b="0" i="0" u="none" kern="1200" baseline="0">
          <a:solidFill>
            <a:schemeClr val="tx2"/>
          </a:solidFill>
          <a:latin typeface="+mj-lt"/>
          <a:ea typeface="+mj-ea"/>
          <a:cs typeface="+mj-cs"/>
          <a:sym typeface="Century Schoolbook" pitchFamily="2" charset="0"/>
        </a:defRPr>
      </a:lvl1pPr>
    </p:titleStyle>
    <p:bodyStyle>
      <a:lvl1pPr marL="274955" lvl="0" indent="-274955" algn="l" defTabSz="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sz="2400" b="0" i="0" u="none" kern="1200" baseline="0">
          <a:solidFill>
            <a:schemeClr val="tx1"/>
          </a:solidFill>
          <a:latin typeface="+mn-lt"/>
          <a:ea typeface="+mn-ea"/>
          <a:cs typeface="+mn-cs"/>
          <a:sym typeface="Century Schoolbook" pitchFamily="2" charset="0"/>
        </a:defRPr>
      </a:lvl1pPr>
      <a:lvl2pPr marL="640080" lvl="1" indent="-273050" algn="l" defTabSz="0" eaLnBrk="0" fontAlgn="base" latinLnBrk="0" hangingPunct="0">
        <a:lnSpc>
          <a:spcPct val="100000"/>
        </a:lnSpc>
        <a:spcBef>
          <a:spcPct val="20000"/>
        </a:spcBef>
        <a:spcAft>
          <a:spcPct val="0"/>
        </a:spcAft>
        <a:buClr>
          <a:schemeClr val="accent1"/>
        </a:buClr>
        <a:buSzPct val="80000"/>
        <a:buFont typeface="Wingdings" panose="05000000000000000000" pitchFamily="2" charset="2"/>
        <a:buChar char=""/>
        <a:defRPr sz="2100" b="0" i="0" u="none" kern="1200" baseline="0">
          <a:solidFill>
            <a:schemeClr val="tx1"/>
          </a:solidFill>
          <a:latin typeface="+mn-lt"/>
          <a:ea typeface="+mn-ea"/>
          <a:cs typeface="+mn-cs"/>
          <a:sym typeface="Century Schoolbook" pitchFamily="2" charset="0"/>
        </a:defRPr>
      </a:lvl2pPr>
      <a:lvl3pPr marL="914400" lvl="2" indent="-182245" algn="l" defTabSz="0" eaLnBrk="0" fontAlgn="base" latinLnBrk="0" hangingPunct="0">
        <a:lnSpc>
          <a:spcPct val="100000"/>
        </a:lnSpc>
        <a:spcBef>
          <a:spcPct val="20000"/>
        </a:spcBef>
        <a:spcAft>
          <a:spcPct val="0"/>
        </a:spcAft>
        <a:buClr>
          <a:srgbClr val="DF7530"/>
        </a:buClr>
        <a:buSzPct val="60000"/>
        <a:buFont typeface="Wingdings" panose="05000000000000000000" pitchFamily="2" charset="2"/>
        <a:buChar char=""/>
        <a:defRPr sz="1800" b="0" i="0" u="none" kern="1200" baseline="0">
          <a:solidFill>
            <a:schemeClr val="tx1"/>
          </a:solidFill>
          <a:latin typeface="+mn-lt"/>
          <a:ea typeface="+mn-ea"/>
          <a:cs typeface="+mn-cs"/>
          <a:sym typeface="Century Schoolbook" pitchFamily="2" charset="0"/>
        </a:defRPr>
      </a:lvl3pPr>
      <a:lvl4pPr marL="1189355" lvl="3" indent="-182880" algn="l" defTabSz="0" eaLnBrk="0" fontAlgn="base" latinLnBrk="0" hangingPunct="0">
        <a:lnSpc>
          <a:spcPct val="100000"/>
        </a:lnSpc>
        <a:spcBef>
          <a:spcPct val="20000"/>
        </a:spcBef>
        <a:spcAft>
          <a:spcPct val="0"/>
        </a:spcAft>
        <a:buClr>
          <a:srgbClr val="FEC2AD"/>
        </a:buClr>
        <a:buSzPct val="60000"/>
        <a:buFont typeface="Wingdings" panose="05000000000000000000" pitchFamily="2" charset="2"/>
        <a:buChar char=""/>
        <a:defRPr sz="1800" b="0" i="0" u="none" kern="1200" baseline="0">
          <a:solidFill>
            <a:schemeClr val="tx1"/>
          </a:solidFill>
          <a:latin typeface="+mn-lt"/>
          <a:ea typeface="+mn-ea"/>
          <a:cs typeface="+mn-cs"/>
          <a:sym typeface="Century Schoolbook" pitchFamily="2" charset="0"/>
        </a:defRPr>
      </a:lvl4pPr>
      <a:lvl5pPr marL="1463675" lvl="4" indent="-182245" algn="l" defTabSz="0" eaLnBrk="0" fontAlgn="base" latinLnBrk="0" hangingPunct="0">
        <a:lnSpc>
          <a:spcPct val="100000"/>
        </a:lnSpc>
        <a:spcBef>
          <a:spcPct val="20000"/>
        </a:spcBef>
        <a:spcAft>
          <a:spcPct val="0"/>
        </a:spcAft>
        <a:buClr>
          <a:srgbClr val="BCC9E9"/>
        </a:buClr>
        <a:buSzPct val="68000"/>
        <a:buFont typeface="Wingdings" panose="05000000000000000000" pitchFamily="2" charset="2"/>
        <a:buChar char=""/>
        <a:defRPr sz="1600" b="0" i="0" u="none" kern="1200" baseline="0">
          <a:solidFill>
            <a:schemeClr val="tx1"/>
          </a:solidFill>
          <a:latin typeface="+mn-lt"/>
          <a:ea typeface="+mn-ea"/>
          <a:cs typeface="+mn-cs"/>
          <a:sym typeface="Century Schoolbook" pitchFamily="2" charset="0"/>
        </a:defRPr>
      </a:lvl5pPr>
      <a:lvl6pPr marL="2514600" lvl="5" indent="-228600" algn="l" defTabSz="0" eaLnBrk="0" fontAlgn="base" latinLnBrk="0" hangingPunct="0">
        <a:lnSpc>
          <a:spcPct val="100000"/>
        </a:lnSpc>
        <a:spcBef>
          <a:spcPct val="20000"/>
        </a:spcBef>
        <a:spcAft>
          <a:spcPct val="0"/>
        </a:spcAft>
        <a:buClr>
          <a:srgbClr val="BCC9E9"/>
        </a:buClr>
        <a:buSzPct val="68000"/>
        <a:buFont typeface="Wingdings" panose="05000000000000000000" pitchFamily="2" charset="2"/>
        <a:buChar char=""/>
        <a:defRPr sz="1600" b="0" i="0" u="none" kern="1200" baseline="0">
          <a:solidFill>
            <a:schemeClr val="tx1"/>
          </a:solidFill>
          <a:latin typeface="+mn-lt"/>
          <a:ea typeface="+mn-ea"/>
          <a:cs typeface="+mn-cs"/>
          <a:sym typeface="Century Schoolbook" pitchFamily="2" charset="0"/>
        </a:defRPr>
      </a:lvl6pPr>
      <a:lvl7pPr marL="2971800" lvl="6" indent="-228600" algn="l" defTabSz="0" eaLnBrk="0" fontAlgn="base" latinLnBrk="0" hangingPunct="0">
        <a:lnSpc>
          <a:spcPct val="100000"/>
        </a:lnSpc>
        <a:spcBef>
          <a:spcPct val="20000"/>
        </a:spcBef>
        <a:spcAft>
          <a:spcPct val="0"/>
        </a:spcAft>
        <a:buClr>
          <a:srgbClr val="BCC9E9"/>
        </a:buClr>
        <a:buSzPct val="68000"/>
        <a:buFont typeface="Wingdings" panose="05000000000000000000" pitchFamily="2" charset="2"/>
        <a:buChar char=""/>
        <a:defRPr sz="1600" b="0" i="0" u="none" kern="1200" baseline="0">
          <a:solidFill>
            <a:schemeClr val="tx1"/>
          </a:solidFill>
          <a:latin typeface="+mn-lt"/>
          <a:ea typeface="+mn-ea"/>
          <a:cs typeface="+mn-cs"/>
          <a:sym typeface="Century Schoolbook" pitchFamily="2" charset="0"/>
        </a:defRPr>
      </a:lvl7pPr>
      <a:lvl8pPr marL="3429000" lvl="7" indent="-228600" algn="l" defTabSz="0" eaLnBrk="0" fontAlgn="base" latinLnBrk="0" hangingPunct="0">
        <a:lnSpc>
          <a:spcPct val="100000"/>
        </a:lnSpc>
        <a:spcBef>
          <a:spcPct val="20000"/>
        </a:spcBef>
        <a:spcAft>
          <a:spcPct val="0"/>
        </a:spcAft>
        <a:buClr>
          <a:srgbClr val="BCC9E9"/>
        </a:buClr>
        <a:buSzPct val="68000"/>
        <a:buFont typeface="Wingdings" panose="05000000000000000000" pitchFamily="2" charset="2"/>
        <a:buChar char=""/>
        <a:defRPr sz="1600" b="0" i="0" u="none" kern="1200" baseline="0">
          <a:solidFill>
            <a:schemeClr val="tx1"/>
          </a:solidFill>
          <a:latin typeface="+mn-lt"/>
          <a:ea typeface="+mn-ea"/>
          <a:cs typeface="+mn-cs"/>
          <a:sym typeface="Century Schoolbook" pitchFamily="2" charset="0"/>
        </a:defRPr>
      </a:lvl8pPr>
      <a:lvl9pPr marL="3886200" lvl="8" indent="-228600" algn="l" defTabSz="0" eaLnBrk="0" fontAlgn="base" latinLnBrk="0" hangingPunct="0">
        <a:lnSpc>
          <a:spcPct val="100000"/>
        </a:lnSpc>
        <a:spcBef>
          <a:spcPct val="20000"/>
        </a:spcBef>
        <a:spcAft>
          <a:spcPct val="0"/>
        </a:spcAft>
        <a:buClr>
          <a:srgbClr val="BCC9E9"/>
        </a:buClr>
        <a:buSzPct val="68000"/>
        <a:buFont typeface="Wingdings" panose="05000000000000000000" pitchFamily="2" charset="2"/>
        <a:buChar char=""/>
        <a:defRPr sz="1600" b="0" i="0" u="none" kern="1200" baseline="0">
          <a:solidFill>
            <a:schemeClr val="tx1"/>
          </a:solidFill>
          <a:latin typeface="+mn-lt"/>
          <a:ea typeface="+mn-ea"/>
          <a:cs typeface="+mn-cs"/>
          <a:sym typeface="Century Schoolbook" pitchFamily="2" charset="0"/>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jpe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jpe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p:nvPr/>
        </p:nvSpPr>
        <p:spPr>
          <a:xfrm>
            <a:off x="1260475" y="765175"/>
            <a:ext cx="7056438" cy="1006475"/>
          </a:xfrm>
          <a:prstGeom prst="rect">
            <a:avLst/>
          </a:prstGeom>
          <a:noFill/>
          <a:ln w="9525">
            <a:noFill/>
          </a:ln>
        </p:spPr>
        <p:txBody>
          <a:bodyPr>
            <a:spAutoFit/>
          </a:bodyPr>
          <a:p>
            <a:pPr eaLnBrk="1" hangingPunct="1"/>
            <a:r>
              <a:rPr lang="zh-CN" altLang="en-US" sz="6000" b="1" dirty="0">
                <a:latin typeface="Bradley Hand ITC" pitchFamily="2" charset="0"/>
              </a:rPr>
              <a:t>Tokyo  Disneyland</a:t>
            </a:r>
            <a:endParaRPr lang="zh-CN" altLang="en-US" sz="6000" b="1" dirty="0">
              <a:latin typeface="Bradley Hand ITC" pitchFamily="2" charset="0"/>
            </a:endParaRPr>
          </a:p>
        </p:txBody>
      </p:sp>
      <p:pic>
        <p:nvPicPr>
          <p:cNvPr id="3075" name="Picture 3" descr="03"/>
          <p:cNvPicPr>
            <a:picLocks noChangeAspect="1"/>
          </p:cNvPicPr>
          <p:nvPr/>
        </p:nvPicPr>
        <p:blipFill>
          <a:blip r:embed="rId1"/>
          <a:stretch>
            <a:fillRect/>
          </a:stretch>
        </p:blipFill>
        <p:spPr>
          <a:xfrm>
            <a:off x="2700338" y="2349500"/>
            <a:ext cx="3048000" cy="4064000"/>
          </a:xfrm>
          <a:prstGeom prst="rect">
            <a:avLst/>
          </a:prstGeom>
          <a:noFill/>
          <a:ln w="9525">
            <a:noFill/>
          </a:ln>
        </p:spPr>
      </p:pic>
      <p:sp>
        <p:nvSpPr>
          <p:cNvPr id="3076" name="Text Box 5"/>
          <p:cNvSpPr txBox="1"/>
          <p:nvPr/>
        </p:nvSpPr>
        <p:spPr>
          <a:xfrm>
            <a:off x="5940425" y="4005263"/>
            <a:ext cx="2087563" cy="1604962"/>
          </a:xfrm>
          <a:prstGeom prst="rect">
            <a:avLst/>
          </a:prstGeom>
          <a:noFill/>
          <a:ln w="9525">
            <a:noFill/>
          </a:ln>
        </p:spPr>
        <p:txBody>
          <a:bodyPr>
            <a:spAutoFit/>
          </a:bodyPr>
          <a:p>
            <a:pPr>
              <a:spcBef>
                <a:spcPct val="50000"/>
              </a:spcBef>
            </a:pPr>
            <a:r>
              <a:rPr lang="zh-CN" altLang="en-US" b="1" dirty="0">
                <a:latin typeface="Arial" panose="020B0604020202020204" pitchFamily="34" charset="0"/>
              </a:rPr>
              <a:t>小组成员：吕茜茜</a:t>
            </a:r>
            <a:endParaRPr lang="zh-CN" altLang="en-US" b="1" dirty="0">
              <a:latin typeface="Arial" panose="020B0604020202020204" pitchFamily="34" charset="0"/>
            </a:endParaRPr>
          </a:p>
          <a:p>
            <a:pPr>
              <a:spcBef>
                <a:spcPct val="50000"/>
              </a:spcBef>
            </a:pPr>
            <a:r>
              <a:rPr lang="zh-CN" altLang="en-US" b="1" dirty="0">
                <a:latin typeface="Arial" panose="020B0604020202020204" pitchFamily="34" charset="0"/>
              </a:rPr>
              <a:t>                   杨   雪</a:t>
            </a:r>
            <a:endParaRPr lang="zh-CN" altLang="en-US" b="1" dirty="0">
              <a:latin typeface="Arial" panose="020B0604020202020204" pitchFamily="34" charset="0"/>
            </a:endParaRPr>
          </a:p>
          <a:p>
            <a:pPr>
              <a:spcBef>
                <a:spcPct val="50000"/>
              </a:spcBef>
            </a:pPr>
            <a:r>
              <a:rPr lang="zh-CN" altLang="en-US" b="1" dirty="0">
                <a:latin typeface="Arial" panose="020B0604020202020204" pitchFamily="34" charset="0"/>
              </a:rPr>
              <a:t>                   祝华菁</a:t>
            </a:r>
            <a:endParaRPr lang="zh-CN" altLang="en-US" b="1" dirty="0">
              <a:latin typeface="Arial" panose="020B0604020202020204" pitchFamily="34" charset="0"/>
            </a:endParaRPr>
          </a:p>
          <a:p>
            <a:pPr>
              <a:spcBef>
                <a:spcPct val="50000"/>
              </a:spcBef>
            </a:pPr>
            <a:r>
              <a:rPr lang="zh-CN" altLang="en-US" b="1" dirty="0">
                <a:latin typeface="Arial" panose="020B0604020202020204" pitchFamily="34" charset="0"/>
              </a:rPr>
              <a:t>                   蒋   珍</a:t>
            </a:r>
            <a:endParaRPr lang="zh-CN" altLang="en-US" b="1"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8" name="图片 1"/>
          <p:cNvPicPr>
            <a:picLocks noChangeAspect="1"/>
          </p:cNvPicPr>
          <p:nvPr/>
        </p:nvPicPr>
        <p:blipFill>
          <a:blip r:embed="rId1"/>
          <a:stretch>
            <a:fillRect/>
          </a:stretch>
        </p:blipFill>
        <p:spPr>
          <a:xfrm>
            <a:off x="-252412" y="0"/>
            <a:ext cx="9683750" cy="7262813"/>
          </a:xfrm>
          <a:prstGeom prst="rect">
            <a:avLst/>
          </a:prstGeom>
          <a:noFill/>
          <a:ln w="9525">
            <a:noFill/>
          </a:ln>
        </p:spPr>
      </p:pic>
      <p:pic>
        <p:nvPicPr>
          <p:cNvPr id="4099" name="图片 2"/>
          <p:cNvPicPr>
            <a:picLocks noChangeAspect="1"/>
          </p:cNvPicPr>
          <p:nvPr/>
        </p:nvPicPr>
        <p:blipFill>
          <a:blip r:embed="rId2"/>
          <a:stretch>
            <a:fillRect/>
          </a:stretch>
        </p:blipFill>
        <p:spPr>
          <a:xfrm>
            <a:off x="0" y="0"/>
            <a:ext cx="9144000" cy="685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filter="fade">
                                      <p:cBhvr>
                                        <p:cTn id="7" dur="1000"/>
                                        <p:tgtEl>
                                          <p:spTgt spid="4099"/>
                                        </p:tgtEl>
                                      </p:cBhvr>
                                    </p:animEffect>
                                    <p:anim calcmode="lin" valueType="num">
                                      <p:cBhvr>
                                        <p:cTn id="8" dur="1000" fill="hold"/>
                                        <p:tgtEl>
                                          <p:spTgt spid="4099"/>
                                        </p:tgtEl>
                                        <p:attrNameLst>
                                          <p:attrName>ppt_x</p:attrName>
                                        </p:attrNameLst>
                                      </p:cBhvr>
                                      <p:tavLst>
                                        <p:tav tm="0">
                                          <p:val>
                                            <p:strVal val="#ppt_x"/>
                                          </p:val>
                                        </p:tav>
                                        <p:tav tm="100000">
                                          <p:val>
                                            <p:strVal val="#ppt_x"/>
                                          </p:val>
                                        </p:tav>
                                      </p:tavLst>
                                    </p:anim>
                                    <p:anim calcmode="lin" valueType="num">
                                      <p:cBhvr>
                                        <p:cTn id="9" dur="1000" fill="hold"/>
                                        <p:tgtEl>
                                          <p:spTgt spid="40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图片 1"/>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descr="03"/>
          <p:cNvPicPr>
            <a:picLocks noChangeAspect="1"/>
          </p:cNvPicPr>
          <p:nvPr/>
        </p:nvPicPr>
        <p:blipFill>
          <a:blip r:embed="rId1"/>
          <a:stretch>
            <a:fillRect/>
          </a:stretch>
        </p:blipFill>
        <p:spPr>
          <a:xfrm>
            <a:off x="6372225" y="4508500"/>
            <a:ext cx="1728788" cy="2305050"/>
          </a:xfrm>
          <a:prstGeom prst="rect">
            <a:avLst/>
          </a:prstGeom>
          <a:noFill/>
          <a:ln w="9525">
            <a:noFill/>
          </a:ln>
        </p:spPr>
      </p:pic>
      <p:sp>
        <p:nvSpPr>
          <p:cNvPr id="6147" name="Text Box 3"/>
          <p:cNvSpPr txBox="1"/>
          <p:nvPr/>
        </p:nvSpPr>
        <p:spPr>
          <a:xfrm>
            <a:off x="395288" y="117475"/>
            <a:ext cx="8135937" cy="6554788"/>
          </a:xfrm>
          <a:prstGeom prst="rect">
            <a:avLst/>
          </a:prstGeom>
          <a:noFill/>
          <a:ln w="9525">
            <a:noFill/>
          </a:ln>
        </p:spPr>
        <p:txBody>
          <a:bodyPr>
            <a:spAutoFit/>
          </a:bodyPr>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It was Tokyo's nastiest winter day in four years.Arctic winds and eight inches of snow lashed the city.Roads were clogged and trains slowed down.</a:t>
            </a:r>
            <a:r>
              <a:rPr lang="en-US" altLang="zh-CN" sz="2000" dirty="0">
                <a:solidFill>
                  <a:srgbClr val="0070C0"/>
                </a:solidFill>
                <a:latin typeface="Arial" panose="020B0604020202020204" pitchFamily="34" charset="0"/>
                <a:sym typeface="Arial Black" panose="020B0A04020102020204" pitchFamily="2" charset="0"/>
              </a:rPr>
              <a:t> But the bad weather didn’t keep 13,200 hardy souls from Tokyo Disneyland.Mikki Mausu,better known outside Janpan as Mickey Mouse,had taken the country by storm.</a:t>
            </a:r>
            <a:endParaRPr lang="en-US" altLang="zh-CN"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那是东京四年来最严寒的冬天。伴随着北极风而来的四英尺厚的雪冲击了整个城市。道路都堵住了，列车缓慢行驶着。但是恶劣的天气并没有影响到东京迪士尼</a:t>
            </a:r>
            <a:r>
              <a:rPr lang="en-US" altLang="zh-CN" sz="2000" dirty="0">
                <a:solidFill>
                  <a:srgbClr val="0070C0"/>
                </a:solidFill>
                <a:latin typeface="Arial" panose="020B0604020202020204" pitchFamily="34" charset="0"/>
                <a:sym typeface="Arial Black" panose="020B0A04020102020204" pitchFamily="2" charset="0"/>
              </a:rPr>
              <a:t>13200</a:t>
            </a:r>
            <a:r>
              <a:rPr lang="zh-CN" altLang="en-US" sz="2000" dirty="0">
                <a:solidFill>
                  <a:srgbClr val="0070C0"/>
                </a:solidFill>
                <a:latin typeface="Arial" panose="020B0604020202020204" pitchFamily="34" charset="0"/>
                <a:sym typeface="Arial Black" panose="020B0A04020102020204" pitchFamily="2" charset="0"/>
              </a:rPr>
              <a:t>坚毅的灵魂，在日本家喻户晓的米奇老鼠暴风似的席卷了整个城市。</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1.nasty:</a:t>
            </a:r>
            <a:r>
              <a:rPr lang="zh-CN" altLang="en-US" sz="2000" dirty="0">
                <a:solidFill>
                  <a:srgbClr val="0070C0"/>
                </a:solidFill>
                <a:latin typeface="Arial Black" panose="020B0A04020102020204" pitchFamily="2" charset="0"/>
                <a:sym typeface="Arial Black" panose="020B0A04020102020204" pitchFamily="2" charset="0"/>
              </a:rPr>
              <a:t>肮脏的；下流的；卑鄙的；下贱的</a:t>
            </a:r>
            <a:endParaRPr lang="zh-CN" altLang="en-US" sz="2000" dirty="0">
              <a:solidFill>
                <a:srgbClr val="0070C0"/>
              </a:solidFill>
              <a:latin typeface="Arial Black" panose="020B0A04020102020204" pitchFamily="2" charset="0"/>
              <a:sym typeface="Arial Black" panose="020B0A04020102020204" pitchFamily="2" charset="0"/>
            </a:endParaRPr>
          </a:p>
          <a:p>
            <a:pPr eaLnBrk="1" hangingPunct="1">
              <a:lnSpc>
                <a:spcPct val="150000"/>
              </a:lnSpc>
            </a:pPr>
            <a:r>
              <a:rPr lang="zh-CN" altLang="en-US" sz="2000" dirty="0">
                <a:solidFill>
                  <a:srgbClr val="0070C0"/>
                </a:solidFill>
                <a:latin typeface="宋体" panose="02010600030101010101" pitchFamily="2" charset="-122"/>
                <a:sym typeface="Arial Black" panose="020B0A04020102020204" pitchFamily="2" charset="0"/>
              </a:rPr>
              <a:t>  比较级:</a:t>
            </a:r>
            <a:r>
              <a:rPr lang="zh-CN" altLang="en-US" sz="2000" dirty="0">
                <a:solidFill>
                  <a:srgbClr val="0070C0"/>
                </a:solidFill>
                <a:latin typeface="Arial" panose="020B0604020202020204" pitchFamily="34" charset="0"/>
                <a:sym typeface="Arial Black" panose="020B0A04020102020204" pitchFamily="2" charset="0"/>
              </a:rPr>
              <a:t>nastier </a:t>
            </a:r>
            <a:r>
              <a:rPr lang="zh-CN" altLang="en-US" sz="2000" dirty="0">
                <a:solidFill>
                  <a:srgbClr val="0070C0"/>
                </a:solidFill>
                <a:latin typeface="Arial Black" panose="020B0A04020102020204" pitchFamily="2" charset="0"/>
                <a:sym typeface="Arial Black" panose="020B0A04020102020204" pitchFamily="2" charset="0"/>
              </a:rPr>
              <a:t> </a:t>
            </a:r>
            <a:r>
              <a:rPr lang="zh-CN" altLang="en-US" sz="2000" b="1" dirty="0">
                <a:solidFill>
                  <a:srgbClr val="0070C0"/>
                </a:solidFill>
                <a:latin typeface="Arial Black" panose="020B0A04020102020204" pitchFamily="2" charset="0"/>
                <a:sym typeface="Arial Black" panose="020B0A04020102020204" pitchFamily="2" charset="0"/>
              </a:rPr>
              <a:t> </a:t>
            </a:r>
            <a:r>
              <a:rPr lang="zh-CN" altLang="en-US" sz="2000" dirty="0">
                <a:solidFill>
                  <a:srgbClr val="0070C0"/>
                </a:solidFill>
                <a:latin typeface="Arial Black" panose="020B0A04020102020204" pitchFamily="2" charset="0"/>
                <a:sym typeface="Arial Black" panose="020B0A04020102020204" pitchFamily="2" charset="0"/>
              </a:rPr>
              <a:t>最高级：</a:t>
            </a:r>
            <a:r>
              <a:rPr lang="zh-CN" altLang="en-US" sz="2000" dirty="0">
                <a:solidFill>
                  <a:srgbClr val="0070C0"/>
                </a:solidFill>
                <a:latin typeface="Arial" panose="020B0604020202020204" pitchFamily="34" charset="0"/>
                <a:sym typeface="Arial Black" panose="020B0A04020102020204" pitchFamily="2" charset="0"/>
              </a:rPr>
              <a:t>nastiest</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2.lash: 鞭打；冲击；猛烈的拍击</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3.clog：阻塞；障碍</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4.slow down：减速；放慢速度；使……慢下来</a:t>
            </a:r>
            <a:endParaRPr lang="zh-CN" altLang="en-US" sz="2000" dirty="0">
              <a:solidFill>
                <a:srgbClr val="0070C0"/>
              </a:solidFill>
              <a:latin typeface="Arial" panose="020B0604020202020204" pitchFamily="34" charset="0"/>
              <a:sym typeface="Arial Black" panose="020B0A04020102020204"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7171" name="Text Box 3"/>
          <p:cNvSpPr txBox="1"/>
          <p:nvPr/>
        </p:nvSpPr>
        <p:spPr>
          <a:xfrm>
            <a:off x="611188" y="549275"/>
            <a:ext cx="7912100" cy="4967288"/>
          </a:xfrm>
          <a:prstGeom prst="rect">
            <a:avLst/>
          </a:prstGeom>
          <a:noFill/>
          <a:ln w="9525">
            <a:noFill/>
          </a:ln>
        </p:spPr>
        <p:txBody>
          <a:bodyPr>
            <a:spAutoFit/>
          </a:bodyPr>
          <a:p>
            <a:pPr eaLnBrk="1" hangingPunct="1">
              <a:lnSpc>
                <a:spcPct val="150000"/>
              </a:lnSpc>
            </a:pPr>
            <a:r>
              <a:rPr lang="zh-CN" altLang="en-US" sz="2000" dirty="0">
                <a:solidFill>
                  <a:srgbClr val="0070C0"/>
                </a:solidFill>
                <a:latin typeface="Arial" panose="020B0604020202020204" pitchFamily="34" charset="0"/>
              </a:rPr>
              <a:t>Located on a fridge of reclaimed shoreline in Urayasu City on the outskirts of Tokyo,the park opened to the public on April 15,1983.</a:t>
            </a:r>
            <a:endParaRPr lang="zh-CN" altLang="en-US" sz="2000" dirty="0">
              <a:solidFill>
                <a:srgbClr val="0070C0"/>
              </a:solidFill>
              <a:latin typeface="Arial" panose="020B0604020202020204" pitchFamily="34"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In less than one year ,over 10 million people had passed through its gates,an attendence figure that has been bettered every single year.</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坐落在东京郊区千叶县浦安市再生海岸线的一座桥上，公园于1983年4月15号向公众开放。在不到一年的时间里，超过1000万的游客通过了它的大门，每年的考核数据已经被虐。</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1.reclaimed：回收的，再生的</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2.shoreline：海岸线</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3.</a:t>
            </a:r>
            <a:r>
              <a:rPr lang="zh-CN" altLang="en-US" sz="2000" dirty="0">
                <a:solidFill>
                  <a:srgbClr val="0070C0"/>
                </a:solidFill>
                <a:latin typeface="Arial" panose="020B0604020202020204" pitchFamily="34" charset="0"/>
              </a:rPr>
              <a:t>Urayasu City ：千叶县浦安市</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sym typeface="Arial Black" panose="020B0A04020102020204"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8195" name="Text Box 3"/>
          <p:cNvSpPr txBox="1"/>
          <p:nvPr/>
        </p:nvSpPr>
        <p:spPr>
          <a:xfrm>
            <a:off x="323850" y="549275"/>
            <a:ext cx="8280400" cy="4205288"/>
          </a:xfrm>
          <a:prstGeom prst="rect">
            <a:avLst/>
          </a:prstGeom>
          <a:noFill/>
          <a:ln w="9525">
            <a:noFill/>
          </a:ln>
        </p:spPr>
        <p:txBody>
          <a:bodyPr>
            <a:spAutoFit/>
          </a:bodyPr>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On August 13,1983, 93,000 people helped set a one-day attendence record that easily eclipsed the old records established at the two parent U.S.parks.Four years later,records again toppled as the turnstile clicked.The total this time:111,500.</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1983年8月13日,93000人帮助创建了为期一天的出席记录,该记录很容易的超越了母国-美国两个迪士尼乐园的记录。四年后,当十字转门推动，记录再次被颠覆。这一次的总数为:111500。</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1.topple:推翻；颠覆</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2.turnstile：十字转门</a:t>
            </a:r>
            <a:endParaRPr lang="zh-CN" altLang="en-US" sz="2000" dirty="0">
              <a:solidFill>
                <a:srgbClr val="0070C0"/>
              </a:solidFill>
              <a:latin typeface="Arial" panose="020B0604020202020204" pitchFamily="34" charset="0"/>
              <a:sym typeface="Arial Black" panose="020B0A04020102020204"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8" name="图片 1"/>
          <p:cNvPicPr>
            <a:picLocks noChangeAspect="1"/>
          </p:cNvPicPr>
          <p:nvPr/>
        </p:nvPicPr>
        <p:blipFill>
          <a:blip r:embed="rId1"/>
          <a:stretch>
            <a:fillRect/>
          </a:stretch>
        </p:blipFill>
        <p:spPr>
          <a:xfrm>
            <a:off x="1042988" y="692150"/>
            <a:ext cx="6840537" cy="496887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0243" name="Text Box 3"/>
          <p:cNvSpPr txBox="1"/>
          <p:nvPr/>
        </p:nvSpPr>
        <p:spPr>
          <a:xfrm>
            <a:off x="468313" y="620713"/>
            <a:ext cx="7851775" cy="3786187"/>
          </a:xfrm>
          <a:prstGeom prst="rect">
            <a:avLst/>
          </a:prstGeom>
          <a:noFill/>
          <a:ln w="9525">
            <a:noFill/>
          </a:ln>
        </p:spPr>
        <p:txBody>
          <a:bodyPr>
            <a:spAutoFit/>
          </a:bodyPr>
          <a:p>
            <a:pPr eaLnBrk="1" hangingPunct="1">
              <a:lnSpc>
                <a:spcPct val="150000"/>
              </a:lnSpc>
            </a:pPr>
            <a:r>
              <a:rPr lang="zh-CN" altLang="en-US" dirty="0">
                <a:solidFill>
                  <a:srgbClr val="0070C0"/>
                </a:solidFill>
                <a:latin typeface="Arial" panose="020B0604020202020204" pitchFamily="34" charset="0"/>
              </a:rPr>
              <a:t>T</a:t>
            </a:r>
            <a:r>
              <a:rPr lang="zh-CN" altLang="en-US" sz="2000" dirty="0">
                <a:solidFill>
                  <a:srgbClr val="0070C0"/>
                </a:solidFill>
                <a:latin typeface="Arial" panose="020B0604020202020204" pitchFamily="34" charset="0"/>
                <a:sym typeface="Arial Black" panose="020B0A04020102020204" pitchFamily="2" charset="0"/>
              </a:rPr>
              <a:t>he steady cash flow pushed revenues for fical year 1989 to $768 million,up 17 percent from 1988.</a:t>
            </a:r>
            <a:r>
              <a:rPr lang="en-US" altLang="zh-CN" sz="2000" dirty="0">
                <a:solidFill>
                  <a:srgbClr val="0070C0"/>
                </a:solidFill>
                <a:latin typeface="Arial" panose="020B0604020202020204" pitchFamily="34" charset="0"/>
                <a:sym typeface="Arial Black" panose="020B0A04020102020204" pitchFamily="2" charset="0"/>
              </a:rPr>
              <a:t>By 1988,approximately 50 million people,or nearly half of Japan’s population,had visited Tokyo Disneyland since its opening.</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稳定的现金流推动了财政紧缩年1989年的收入达到7.68亿美元,较1988年增长17%。截止</a:t>
            </a:r>
            <a:r>
              <a:rPr lang="en-US" altLang="zh-CN" sz="2000" dirty="0">
                <a:solidFill>
                  <a:srgbClr val="0070C0"/>
                </a:solidFill>
                <a:latin typeface="Arial" panose="020B0604020202020204" pitchFamily="34" charset="0"/>
                <a:sym typeface="Arial Black" panose="020B0A04020102020204" pitchFamily="2" charset="0"/>
              </a:rPr>
              <a:t>1988</a:t>
            </a:r>
            <a:r>
              <a:rPr lang="zh-CN" altLang="en-US" sz="2000" dirty="0">
                <a:solidFill>
                  <a:srgbClr val="0070C0"/>
                </a:solidFill>
                <a:latin typeface="Arial" panose="020B0604020202020204" pitchFamily="34" charset="0"/>
                <a:sym typeface="Arial Black" panose="020B0A04020102020204" pitchFamily="2" charset="0"/>
              </a:rPr>
              <a:t>年，自东京迪士尼开业以来，相当于日本一半的人口，也就是大约</a:t>
            </a:r>
            <a:r>
              <a:rPr lang="en-US" altLang="zh-CN" sz="2000" dirty="0">
                <a:solidFill>
                  <a:srgbClr val="0070C0"/>
                </a:solidFill>
                <a:latin typeface="Arial" panose="020B0604020202020204" pitchFamily="34" charset="0"/>
                <a:sym typeface="Arial Black" panose="020B0A04020102020204" pitchFamily="2" charset="0"/>
              </a:rPr>
              <a:t>5</a:t>
            </a:r>
            <a:r>
              <a:rPr lang="zh-CN" altLang="en-US" sz="2000" dirty="0">
                <a:solidFill>
                  <a:srgbClr val="0070C0"/>
                </a:solidFill>
                <a:latin typeface="Arial" panose="020B0604020202020204" pitchFamily="34" charset="0"/>
                <a:sym typeface="Arial Black" panose="020B0A04020102020204" pitchFamily="2" charset="0"/>
              </a:rPr>
              <a:t>千万的人次来此游玩过。</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1267" name="Text Box 3"/>
          <p:cNvSpPr txBox="1"/>
          <p:nvPr/>
        </p:nvSpPr>
        <p:spPr>
          <a:xfrm>
            <a:off x="468313" y="620713"/>
            <a:ext cx="7851775" cy="4708525"/>
          </a:xfrm>
          <a:prstGeom prst="rect">
            <a:avLst/>
          </a:prstGeom>
          <a:noFill/>
          <a:ln w="9525">
            <a:noFill/>
          </a:ln>
        </p:spPr>
        <p:txBody>
          <a:bodyPr>
            <a:spAutoFit/>
          </a:bodyPr>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The 204-acre Tokyo Disneyland is owned and operated by Oriental Land under license from the Walt Disney Co.</a:t>
            </a:r>
            <a:r>
              <a:rPr lang="zh-CN" altLang="en-US" sz="2000" dirty="0">
                <a:solidFill>
                  <a:srgbClr val="0070C0"/>
                </a:solidFill>
                <a:latin typeface="Arial" panose="020B0604020202020204" pitchFamily="34" charset="0"/>
              </a:rPr>
              <a:t> T</a:t>
            </a:r>
            <a:r>
              <a:rPr lang="zh-CN" altLang="en-US" sz="2000" dirty="0">
                <a:solidFill>
                  <a:srgbClr val="0070C0"/>
                </a:solidFill>
                <a:latin typeface="Arial" panose="020B0604020202020204" pitchFamily="34" charset="0"/>
                <a:sym typeface="Arial Black" panose="020B0A04020102020204" pitchFamily="2" charset="0"/>
              </a:rPr>
              <a:t>h</a:t>
            </a:r>
            <a:r>
              <a:rPr lang="en-US" altLang="zh-CN" sz="2000" dirty="0">
                <a:solidFill>
                  <a:srgbClr val="0070C0"/>
                </a:solidFill>
                <a:latin typeface="Arial" panose="020B0604020202020204" pitchFamily="34" charset="0"/>
                <a:sym typeface="Arial Black" panose="020B0A04020102020204" pitchFamily="2" charset="0"/>
              </a:rPr>
              <a:t>e 45 contract gives Disney 10 percent of admissions and 5 percent of food and merchangise sales,plus lidensing fees.Disney opted to take no equity in the project and put no money down for construction.</a:t>
            </a:r>
            <a:r>
              <a:rPr lang="zh-CN" altLang="en-US" sz="2000" dirty="0">
                <a:solidFill>
                  <a:srgbClr val="0070C0"/>
                </a:solidFill>
                <a:latin typeface="Arial" panose="020B0604020202020204" pitchFamily="34" charset="0"/>
                <a:sym typeface="Arial Black" panose="020B0A04020102020204" pitchFamily="2" charset="0"/>
              </a:rPr>
              <a:t> </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占地204英亩的东京迪斯尼乐园由经过华特迪士尼公司许可的</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东方乐园公司所有和经营。他们签署的</a:t>
            </a:r>
            <a:r>
              <a:rPr lang="en-US" altLang="zh-CN" sz="2000" dirty="0">
                <a:solidFill>
                  <a:srgbClr val="0070C0"/>
                </a:solidFill>
                <a:latin typeface="Arial" panose="020B0604020202020204" pitchFamily="34" charset="0"/>
                <a:sym typeface="Arial Black" panose="020B0A04020102020204" pitchFamily="2" charset="0"/>
              </a:rPr>
              <a:t>45</a:t>
            </a:r>
            <a:r>
              <a:rPr lang="zh-CN" altLang="en-US" sz="2000" dirty="0">
                <a:solidFill>
                  <a:srgbClr val="0070C0"/>
                </a:solidFill>
                <a:latin typeface="Arial" panose="020B0604020202020204" pitchFamily="34" charset="0"/>
                <a:sym typeface="Arial Black" panose="020B0A04020102020204" pitchFamily="2" charset="0"/>
              </a:rPr>
              <a:t>年合约中，迪士尼公司可以得到</a:t>
            </a:r>
            <a:r>
              <a:rPr lang="en-US" altLang="zh-CN" sz="2000" dirty="0">
                <a:solidFill>
                  <a:srgbClr val="0070C0"/>
                </a:solidFill>
                <a:latin typeface="Arial" panose="020B0604020202020204" pitchFamily="34" charset="0"/>
                <a:sym typeface="Arial Black" panose="020B0A04020102020204" pitchFamily="2" charset="0"/>
              </a:rPr>
              <a:t>10%</a:t>
            </a:r>
            <a:r>
              <a:rPr lang="zh-CN" altLang="en-US" sz="2000" dirty="0">
                <a:solidFill>
                  <a:srgbClr val="0070C0"/>
                </a:solidFill>
                <a:latin typeface="Arial" panose="020B0604020202020204" pitchFamily="34" charset="0"/>
                <a:sym typeface="Arial Black" panose="020B0A04020102020204" pitchFamily="2" charset="0"/>
              </a:rPr>
              <a:t>的入场费、</a:t>
            </a:r>
            <a:r>
              <a:rPr lang="en-US" altLang="zh-CN" sz="2000" dirty="0">
                <a:solidFill>
                  <a:srgbClr val="0070C0"/>
                </a:solidFill>
                <a:latin typeface="Arial" panose="020B0604020202020204" pitchFamily="34" charset="0"/>
                <a:sym typeface="Arial Black" panose="020B0A04020102020204" pitchFamily="2" charset="0"/>
              </a:rPr>
              <a:t>5%</a:t>
            </a:r>
            <a:r>
              <a:rPr lang="zh-CN" altLang="en-US" sz="2000" dirty="0">
                <a:solidFill>
                  <a:srgbClr val="0070C0"/>
                </a:solidFill>
                <a:latin typeface="Arial" panose="020B0604020202020204" pitchFamily="34" charset="0"/>
                <a:sym typeface="Arial Black" panose="020B0A04020102020204" pitchFamily="2" charset="0"/>
              </a:rPr>
              <a:t>的食物和商品的销售额外加授权费。而迪士尼公司在迪士尼乐园的建设中不占任何股权也不做任何的投资。</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图片 2"/>
          <p:cNvPicPr>
            <a:picLocks noChangeAspect="1"/>
          </p:cNvPicPr>
          <p:nvPr/>
        </p:nvPicPr>
        <p:blipFill>
          <a:blip r:embed="rId1"/>
          <a:stretch>
            <a:fillRect/>
          </a:stretch>
        </p:blipFill>
        <p:spPr>
          <a:xfrm>
            <a:off x="1116013" y="549275"/>
            <a:ext cx="6705600" cy="4657725"/>
          </a:xfrm>
          <a:prstGeom prst="rect">
            <a:avLst/>
          </a:prstGeom>
          <a:noFill/>
          <a:ln w="9525">
            <a:noFill/>
          </a:ln>
        </p:spPr>
      </p:pic>
      <p:sp>
        <p:nvSpPr>
          <p:cNvPr id="12291" name="文本框 3"/>
          <p:cNvSpPr txBox="1"/>
          <p:nvPr/>
        </p:nvSpPr>
        <p:spPr>
          <a:xfrm>
            <a:off x="1116013" y="5516563"/>
            <a:ext cx="6767512" cy="369887"/>
          </a:xfrm>
          <a:prstGeom prst="rect">
            <a:avLst/>
          </a:prstGeom>
          <a:noFill/>
          <a:ln w="9525">
            <a:noFill/>
          </a:ln>
        </p:spPr>
        <p:txBody>
          <a:bodyPr>
            <a:spAutoFit/>
          </a:bodyPr>
          <a:p>
            <a:pPr algn="ctr" eaLnBrk="1" hangingPunct="1"/>
            <a:r>
              <a:rPr lang="zh-CN" altLang="en-US" dirty="0">
                <a:latin typeface="Arial" panose="020B0604020202020204" pitchFamily="34" charset="0"/>
              </a:rPr>
              <a:t>东京迪士尼乐园游览图</a:t>
            </a:r>
            <a:endParaRPr lang="zh-CN" altLang="en-US"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4"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3315" name="Text Box 3"/>
          <p:cNvSpPr txBox="1"/>
          <p:nvPr/>
        </p:nvSpPr>
        <p:spPr>
          <a:xfrm>
            <a:off x="468313" y="620713"/>
            <a:ext cx="7851775" cy="549275"/>
          </a:xfrm>
          <a:prstGeom prst="rect">
            <a:avLst/>
          </a:prstGeom>
          <a:noFill/>
          <a:ln w="9525">
            <a:noFill/>
          </a:ln>
        </p:spPr>
        <p:txBody>
          <a:bodyPr>
            <a:spAutoFit/>
          </a:bodyPr>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3316" name="Rectangle 5"/>
          <p:cNvSpPr/>
          <p:nvPr/>
        </p:nvSpPr>
        <p:spPr>
          <a:xfrm>
            <a:off x="468313" y="908050"/>
            <a:ext cx="8316912" cy="19208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r>
              <a:rPr lang="en-US" altLang="zh-CN" sz="2000" dirty="0">
                <a:solidFill>
                  <a:srgbClr val="0070C0"/>
                </a:solidFill>
                <a:latin typeface="Arial" panose="020B0604020202020204" pitchFamily="34" charset="0"/>
              </a:rPr>
              <a:t>I have never had the slightest doubt about the success of Disneyland </a:t>
            </a:r>
            <a:endParaRPr lang="en-US" altLang="zh-CN"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 in Japan,” said Masatomo Takahashi president of Oriental Land Company.</a:t>
            </a:r>
            <a:endParaRPr lang="en-US" altLang="zh-CN" sz="2000" dirty="0">
              <a:solidFill>
                <a:srgbClr val="0070C0"/>
              </a:solidFill>
              <a:latin typeface="Arial" panose="020B0604020202020204" pitchFamily="34" charset="0"/>
            </a:endParaRPr>
          </a:p>
          <a:p>
            <a:pPr eaLnBrk="1" hangingPunct="1"/>
            <a:endParaRPr lang="en-US" altLang="zh-CN" sz="2000" dirty="0">
              <a:solidFill>
                <a:srgbClr val="0070C0"/>
              </a:solidFill>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东方乐园的董事长说：“对于日本迪士尼乐园的成功，我从未有过丝毫的怀疑”。</a:t>
            </a:r>
            <a:endParaRPr lang="zh-CN" altLang="en-US" sz="2000" dirty="0">
              <a:solidFill>
                <a:srgbClr val="0070C0"/>
              </a:solidFill>
              <a:latin typeface="Arial" panose="020B0604020202020204" pitchFamily="34" charset="0"/>
            </a:endParaRPr>
          </a:p>
        </p:txBody>
      </p:sp>
      <p:sp>
        <p:nvSpPr>
          <p:cNvPr id="13317" name="Rectangle 6"/>
          <p:cNvSpPr/>
          <p:nvPr/>
        </p:nvSpPr>
        <p:spPr>
          <a:xfrm>
            <a:off x="539750" y="3213100"/>
            <a:ext cx="8135938" cy="2409825"/>
          </a:xfrm>
          <a:prstGeom prst="rect">
            <a:avLst/>
          </a:prstGeom>
          <a:noFill/>
          <a:ln w="9525">
            <a:noFill/>
          </a:ln>
        </p:spPr>
        <p:txBody>
          <a:bodyPr anchor="ctr" anchorCtr="0">
            <a:spAutoFit/>
          </a:bodyPr>
          <a:p>
            <a:pPr eaLnBrk="1" hangingPunct="1"/>
            <a:r>
              <a:rPr lang="en-US" altLang="zh-CN" sz="2000" dirty="0">
                <a:solidFill>
                  <a:srgbClr val="0070C0"/>
                </a:solidFill>
                <a:latin typeface="Arial" panose="020B0604020202020204" pitchFamily="34" charset="0"/>
              </a:rPr>
              <a:t>Oriental Land was so confident of the success of Disney in Japan that it financed the park entirely with debt. borrowing ¥180 billion</a:t>
            </a:r>
            <a:r>
              <a:rPr lang="en-US" altLang="zh-CN" dirty="0">
                <a:solidFill>
                  <a:srgbClr val="0070C0"/>
                </a:solidFill>
                <a:latin typeface="Arial" panose="020B0604020202020204" pitchFamily="34" charset="0"/>
              </a:rPr>
              <a:t>($1.5billion at February 1988 exchange rates).</a:t>
            </a:r>
            <a:endParaRPr lang="en-US" altLang="zh-CN" dirty="0">
              <a:solidFill>
                <a:srgbClr val="0070C0"/>
              </a:solidFill>
              <a:latin typeface="Arial" panose="020B0604020202020204" pitchFamily="34" charset="0"/>
            </a:endParaRPr>
          </a:p>
          <a:p>
            <a:pPr eaLnBrk="1" hangingPunct="1"/>
            <a:endParaRPr lang="en-US" altLang="zh-CN" dirty="0">
              <a:solidFill>
                <a:srgbClr val="0070C0"/>
              </a:solidFill>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东方乐园对于日本迪斯尼的成功是如此的自信</a:t>
            </a:r>
            <a:r>
              <a:rPr lang="en-US" altLang="zh-CN" sz="2000" dirty="0">
                <a:solidFill>
                  <a:srgbClr val="0070C0"/>
                </a:solidFill>
                <a:latin typeface="Arial" panose="020B0604020202020204" pitchFamily="34" charset="0"/>
              </a:rPr>
              <a:t>,</a:t>
            </a:r>
            <a:r>
              <a:rPr lang="zh-CN" altLang="en-US" sz="2000" dirty="0">
                <a:solidFill>
                  <a:srgbClr val="0070C0"/>
                </a:solidFill>
                <a:latin typeface="Arial" panose="020B0604020202020204" pitchFamily="34" charset="0"/>
              </a:rPr>
              <a:t>因为它被</a:t>
            </a:r>
            <a:r>
              <a:rPr lang="en-US" altLang="zh-CN" sz="2000" dirty="0">
                <a:solidFill>
                  <a:srgbClr val="0070C0"/>
                </a:solidFill>
                <a:latin typeface="Arial" panose="020B0604020202020204" pitchFamily="34" charset="0"/>
              </a:rPr>
              <a:t>1800</a:t>
            </a:r>
            <a:r>
              <a:rPr lang="zh-CN" altLang="en-US" sz="2000" dirty="0">
                <a:solidFill>
                  <a:srgbClr val="0070C0"/>
                </a:solidFill>
                <a:latin typeface="Arial" panose="020B0604020202020204" pitchFamily="34" charset="0"/>
              </a:rPr>
              <a:t>亿元以债务融资公园</a:t>
            </a:r>
            <a:r>
              <a:rPr lang="zh-CN" altLang="en-US" dirty="0">
                <a:latin typeface="Arial" panose="020B0604020202020204" pitchFamily="34" charset="0"/>
              </a:rPr>
              <a:t> </a:t>
            </a:r>
            <a:r>
              <a:rPr lang="zh-CN" altLang="en-US" dirty="0">
                <a:solidFill>
                  <a:srgbClr val="0070C0"/>
                </a:solidFill>
                <a:latin typeface="Arial" panose="020B0604020202020204" pitchFamily="34" charset="0"/>
              </a:rPr>
              <a:t>（以</a:t>
            </a:r>
            <a:r>
              <a:rPr lang="en-US" altLang="zh-CN" dirty="0">
                <a:solidFill>
                  <a:srgbClr val="0070C0"/>
                </a:solidFill>
                <a:latin typeface="Arial" panose="020B0604020202020204" pitchFamily="34" charset="0"/>
              </a:rPr>
              <a:t>1988</a:t>
            </a:r>
            <a:r>
              <a:rPr lang="zh-CN" altLang="en-US" dirty="0">
                <a:solidFill>
                  <a:srgbClr val="0070C0"/>
                </a:solidFill>
                <a:latin typeface="Arial" panose="020B0604020202020204" pitchFamily="34" charset="0"/>
              </a:rPr>
              <a:t>年二月时的汇率算，是</a:t>
            </a:r>
            <a:r>
              <a:rPr lang="en-US" altLang="zh-CN" dirty="0">
                <a:solidFill>
                  <a:srgbClr val="0070C0"/>
                </a:solidFill>
                <a:latin typeface="Arial" panose="020B0604020202020204" pitchFamily="34" charset="0"/>
              </a:rPr>
              <a:t>15</a:t>
            </a:r>
            <a:r>
              <a:rPr lang="zh-CN" altLang="en-US" dirty="0">
                <a:solidFill>
                  <a:srgbClr val="0070C0"/>
                </a:solidFill>
                <a:latin typeface="Arial" panose="020B0604020202020204" pitchFamily="34" charset="0"/>
              </a:rPr>
              <a:t>亿美元）。</a:t>
            </a:r>
            <a:endParaRPr lang="zh-CN" altLang="en-US" dirty="0">
              <a:solidFill>
                <a:srgbClr val="0070C0"/>
              </a:solidFill>
              <a:latin typeface="Arial" panose="020B0604020202020204" pitchFamily="34" charset="0"/>
            </a:endParaRPr>
          </a:p>
          <a:p>
            <a:pPr eaLnBrk="1" hangingPunct="1"/>
            <a:endParaRPr lang="en-US" altLang="zh-CN" dirty="0">
              <a:solidFill>
                <a:srgbClr val="0070C0"/>
              </a:solidFill>
              <a:latin typeface="Arial" panose="020B0604020202020204" pitchFamily="34" charset="0"/>
            </a:endParaRPr>
          </a:p>
          <a:p>
            <a:pPr eaLnBrk="1" hangingPunct="1"/>
            <a:r>
              <a:rPr lang="en-US" altLang="zh-CN" dirty="0">
                <a:solidFill>
                  <a:srgbClr val="0070C0"/>
                </a:solidFill>
                <a:latin typeface="Arial" panose="020B0604020202020204" pitchFamily="34" charset="0"/>
              </a:rPr>
              <a:t>exchange rates  </a:t>
            </a:r>
            <a:r>
              <a:rPr lang="zh-CN" altLang="en-US" dirty="0">
                <a:solidFill>
                  <a:srgbClr val="0070C0"/>
                </a:solidFill>
                <a:latin typeface="Arial" panose="020B0604020202020204" pitchFamily="34" charset="0"/>
              </a:rPr>
              <a:t>外汇汇率</a:t>
            </a:r>
            <a:endParaRPr lang="zh-CN" altLang="en-US" dirty="0">
              <a:solidFill>
                <a:srgbClr val="0070C0"/>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4339" name="Text Box 3"/>
          <p:cNvSpPr txBox="1"/>
          <p:nvPr/>
        </p:nvSpPr>
        <p:spPr>
          <a:xfrm>
            <a:off x="468313" y="620713"/>
            <a:ext cx="7851775" cy="549275"/>
          </a:xfrm>
          <a:prstGeom prst="rect">
            <a:avLst/>
          </a:prstGeom>
          <a:noFill/>
          <a:ln w="9525">
            <a:noFill/>
          </a:ln>
        </p:spPr>
        <p:txBody>
          <a:bodyPr>
            <a:spAutoFit/>
          </a:bodyPr>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4340" name="Rectangle 4"/>
          <p:cNvSpPr/>
          <p:nvPr/>
        </p:nvSpPr>
        <p:spPr>
          <a:xfrm>
            <a:off x="395288" y="1052513"/>
            <a:ext cx="8064500" cy="2195512"/>
          </a:xfrm>
          <a:prstGeom prst="rect">
            <a:avLst/>
          </a:prstGeom>
          <a:noFill/>
          <a:ln w="9525">
            <a:noFill/>
          </a:ln>
        </p:spPr>
        <p:txBody>
          <a:bodyPr anchor="ctr" anchorCtr="0">
            <a:spAutoFit/>
          </a:bodyPr>
          <a:p>
            <a:pPr eaLnBrk="1" hangingPunct="1"/>
            <a:r>
              <a:rPr lang="en-US" altLang="zh-CN" sz="2000" dirty="0">
                <a:solidFill>
                  <a:srgbClr val="0070C0"/>
                </a:solidFill>
                <a:latin typeface="Arial" panose="020B0604020202020204" pitchFamily="34" charset="0"/>
              </a:rPr>
              <a:t>Soon after Tokyo Disneyland opened April 1983,</a:t>
            </a:r>
            <a:endParaRPr lang="en-US" altLang="zh-CN"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five Shinto priests held a solemn dedication ceremony near Cinder-   ella's castle</a:t>
            </a:r>
            <a:r>
              <a:rPr lang="en-US" altLang="zh-CN" sz="2000" dirty="0">
                <a:latin typeface="Arial" panose="020B0604020202020204" pitchFamily="34" charset="0"/>
              </a:rPr>
              <a:t>. </a:t>
            </a:r>
            <a:endParaRPr lang="en-US" altLang="zh-CN" sz="2000" dirty="0">
              <a:latin typeface="Arial" panose="020B0604020202020204" pitchFamily="34" charset="0"/>
            </a:endParaRPr>
          </a:p>
          <a:p>
            <a:pPr eaLnBrk="1" hangingPunct="1"/>
            <a:endParaRPr lang="zh-CN" altLang="en-US" dirty="0">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不久之后，日本于</a:t>
            </a:r>
            <a:r>
              <a:rPr lang="en-US" altLang="zh-CN" sz="2000" dirty="0">
                <a:solidFill>
                  <a:srgbClr val="0070C0"/>
                </a:solidFill>
                <a:latin typeface="Arial" panose="020B0604020202020204" pitchFamily="34" charset="0"/>
              </a:rPr>
              <a:t>1983</a:t>
            </a:r>
            <a:r>
              <a:rPr lang="zh-CN" altLang="en-US" sz="2000" dirty="0">
                <a:solidFill>
                  <a:srgbClr val="0070C0"/>
                </a:solidFill>
                <a:latin typeface="Arial" panose="020B0604020202020204" pitchFamily="34" charset="0"/>
              </a:rPr>
              <a:t>年四月就开了迪士尼乐园，并且在五神道教祭司灰姑娘的城堡附近举行了庄严的奉献仪式。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14341" name="Rectangle 8"/>
          <p:cNvSpPr/>
          <p:nvPr/>
        </p:nvSpPr>
        <p:spPr>
          <a:xfrm>
            <a:off x="395288" y="3284538"/>
            <a:ext cx="7550150" cy="2500312"/>
          </a:xfrm>
          <a:prstGeom prst="rect">
            <a:avLst/>
          </a:prstGeom>
          <a:noFill/>
          <a:ln w="9525">
            <a:noFill/>
          </a:ln>
        </p:spPr>
        <p:txBody>
          <a:bodyPr wrap="none" anchor="ctr" anchorCtr="0">
            <a:spAutoFit/>
          </a:bodyPr>
          <a:p>
            <a:pPr eaLnBrk="1" hangingPunct="1"/>
            <a:r>
              <a:rPr lang="zh-CN" altLang="en-US" dirty="0">
                <a:latin typeface="Arial" panose="020B0604020202020204" pitchFamily="34" charset="0"/>
              </a:rPr>
              <a:t> </a:t>
            </a:r>
            <a:r>
              <a:rPr lang="en-US" altLang="zh-CN" sz="2000" dirty="0">
                <a:solidFill>
                  <a:srgbClr val="0070C0"/>
                </a:solidFill>
                <a:latin typeface="Arial" panose="020B0604020202020204" pitchFamily="34" charset="0"/>
              </a:rPr>
              <a:t>It is the only overtly Japanese ritual seen so far in this sprawling</a:t>
            </a:r>
            <a:endParaRPr lang="en-US" altLang="zh-CN"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 theme park.</a:t>
            </a:r>
            <a:endParaRPr lang="en-US" altLang="zh-CN" sz="2000" dirty="0">
              <a:solidFill>
                <a:srgbClr val="0070C0"/>
              </a:solidFill>
              <a:latin typeface="Arial" panose="020B0604020202020204" pitchFamily="34" charset="0"/>
            </a:endParaRPr>
          </a:p>
          <a:p>
            <a:pPr eaLnBrk="1" hangingPunct="1"/>
            <a:endParaRPr lang="en-US" altLang="zh-CN" sz="2000" dirty="0">
              <a:solidFill>
                <a:srgbClr val="0070C0"/>
              </a:solidFill>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到目前为止，在这个庞大的主题公园，这是唯一公开的日本仪式。</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Overtly  </a:t>
            </a:r>
            <a:r>
              <a:rPr lang="zh-CN" altLang="en-US" sz="2000" dirty="0">
                <a:solidFill>
                  <a:srgbClr val="0070C0"/>
                </a:solidFill>
                <a:latin typeface="Arial" panose="020B0604020202020204" pitchFamily="34" charset="0"/>
              </a:rPr>
              <a:t>公开地，明显地                </a:t>
            </a:r>
            <a:r>
              <a:rPr lang="en-US" altLang="zh-CN" sz="2000" dirty="0">
                <a:solidFill>
                  <a:srgbClr val="0070C0"/>
                </a:solidFill>
                <a:latin typeface="Arial" panose="020B0604020202020204" pitchFamily="34" charset="0"/>
              </a:rPr>
              <a:t>ritual  </a:t>
            </a:r>
            <a:r>
              <a:rPr lang="zh-CN" altLang="en-US" sz="2000" dirty="0">
                <a:solidFill>
                  <a:srgbClr val="0070C0"/>
                </a:solidFill>
                <a:latin typeface="Arial" panose="020B0604020202020204" pitchFamily="34" charset="0"/>
              </a:rPr>
              <a:t>仪式</a:t>
            </a:r>
            <a:r>
              <a:rPr lang="zh-CN" altLang="en-US" dirty="0">
                <a:latin typeface="Arial" panose="020B0604020202020204" pitchFamily="34" charset="0"/>
              </a:rPr>
              <a:t> </a:t>
            </a:r>
            <a:endParaRPr lang="zh-CN" altLang="en-US" dirty="0">
              <a:latin typeface="Arial" panose="020B0604020202020204" pitchFamily="34" charset="0"/>
            </a:endParaRPr>
          </a:p>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2"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5363" name="Text Box 3"/>
          <p:cNvSpPr txBox="1"/>
          <p:nvPr/>
        </p:nvSpPr>
        <p:spPr>
          <a:xfrm>
            <a:off x="468313" y="765175"/>
            <a:ext cx="7851775" cy="4206875"/>
          </a:xfrm>
          <a:prstGeom prst="rect">
            <a:avLst/>
          </a:prstGeom>
          <a:noFill/>
          <a:ln w="9525">
            <a:noFill/>
          </a:ln>
        </p:spPr>
        <p:txBody>
          <a:bodyPr>
            <a:spAutoFit/>
          </a:bodyPr>
          <a:p>
            <a:pPr eaLnBrk="1" hangingPunct="1">
              <a:lnSpc>
                <a:spcPct val="150000"/>
              </a:lnSpc>
            </a:pPr>
            <a:r>
              <a:rPr lang="en-US" altLang="zh-CN" sz="2000" dirty="0">
                <a:solidFill>
                  <a:srgbClr val="0070C0"/>
                </a:solidFill>
                <a:latin typeface="Arial" panose="020B0604020202020204" pitchFamily="34" charset="0"/>
                <a:sym typeface="Arial Black" panose="020B0A04020102020204" pitchFamily="2" charset="0"/>
              </a:rPr>
              <a:t>What visitor’s see is pure Americana. All signs are in English, with only small katakana translations.</a:t>
            </a:r>
            <a:endParaRPr lang="en-US" altLang="zh-CN"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参观者是纯粹的美国人，而且所有的标语都是用英文写的，在英文下面只有小小的片假名（即日本语言字母表）作为翻译。</a:t>
            </a: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en-US" altLang="zh-CN" sz="2000" dirty="0">
                <a:solidFill>
                  <a:srgbClr val="0070C0"/>
                </a:solidFill>
                <a:latin typeface="Arial" panose="020B0604020202020204" pitchFamily="34" charset="0"/>
                <a:sym typeface="Arial Black" panose="020B0A04020102020204" pitchFamily="2" charset="0"/>
              </a:rPr>
              <a:t>Most of the food is American-style, and the attractions are cloned from Disney’s U.S. parks.</a:t>
            </a:r>
            <a:endParaRPr lang="en-US" altLang="zh-CN" sz="2000" dirty="0">
              <a:solidFill>
                <a:srgbClr val="0070C0"/>
              </a:solidFill>
              <a:latin typeface="Arial" panose="020B0604020202020204" pitchFamily="34" charset="0"/>
              <a:sym typeface="Arial Black" panose="020B0A04020102020204" pitchFamily="2" charset="0"/>
            </a:endParaRPr>
          </a:p>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乐园里大多数的食物都是美国的饮食风格，而且其中的景点也都是克隆美国迪士尼乐园的。</a:t>
            </a: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5364"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15365"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6387" name="Text Box 3"/>
          <p:cNvSpPr txBox="1"/>
          <p:nvPr/>
        </p:nvSpPr>
        <p:spPr>
          <a:xfrm>
            <a:off x="468313" y="765175"/>
            <a:ext cx="7851775" cy="549275"/>
          </a:xfrm>
          <a:prstGeom prst="rect">
            <a:avLst/>
          </a:prstGeom>
          <a:noFill/>
          <a:ln w="9525">
            <a:noFill/>
          </a:ln>
        </p:spPr>
        <p:txBody>
          <a:bodyPr>
            <a:spAutoFit/>
          </a:bodyPr>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6388"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16389"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16390" name="AutoShape 6" descr="GM9TMM0E61]$[YZGR0PV5"/>
          <p:cNvSpPr>
            <a:spLocks noChangeAspect="1"/>
          </p:cNvSpPr>
          <p:nvPr/>
        </p:nvSpPr>
        <p:spPr>
          <a:xfrm>
            <a:off x="6465888" y="3043238"/>
            <a:ext cx="304800" cy="304800"/>
          </a:xfrm>
          <a:prstGeom prst="rect">
            <a:avLst/>
          </a:prstGeom>
          <a:noFill/>
          <a:ln w="9525">
            <a:noFill/>
          </a:ln>
        </p:spPr>
        <p:txBody>
          <a:bodyPr/>
          <a:p>
            <a:pPr eaLnBrk="1" hangingPunct="1"/>
            <a:endParaRPr lang="zh-CN" altLang="en-US" dirty="0">
              <a:latin typeface="Arial" panose="020B0604020202020204" pitchFamily="34" charset="0"/>
            </a:endParaRPr>
          </a:p>
        </p:txBody>
      </p:sp>
      <p:sp>
        <p:nvSpPr>
          <p:cNvPr id="16391" name="Rectangle 7"/>
          <p:cNvSpPr/>
          <p:nvPr/>
        </p:nvSpPr>
        <p:spPr>
          <a:xfrm>
            <a:off x="250825" y="549275"/>
            <a:ext cx="8424863" cy="454342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r>
              <a:rPr lang="en-US" altLang="zh-CN" sz="2000" dirty="0">
                <a:solidFill>
                  <a:srgbClr val="0070C0"/>
                </a:solidFill>
                <a:latin typeface="Arial" panose="020B0604020202020204" pitchFamily="34" charset="0"/>
              </a:rPr>
              <a:t>Disney also held firm on two fundamentals that strike the Japanese as</a:t>
            </a:r>
            <a:endParaRPr lang="en-US" altLang="zh-CN"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 strangeno alcohol is allowed and no food may be brought in from outside the park. </a:t>
            </a:r>
            <a:endParaRPr lang="en-US" altLang="zh-CN" sz="2000" dirty="0">
              <a:solidFill>
                <a:srgbClr val="0070C0"/>
              </a:solidFill>
              <a:latin typeface="Arial" panose="020B0604020202020204" pitchFamily="34" charset="0"/>
            </a:endParaRPr>
          </a:p>
          <a:p>
            <a:pPr eaLnBrk="1" hangingPunct="1"/>
            <a:endParaRPr lang="en-US" altLang="zh-CN" sz="2000" dirty="0">
              <a:solidFill>
                <a:srgbClr val="0070C0"/>
              </a:solidFill>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迪斯尼公司也持有两个基本点，那就是允许不含酒精的饮料带入，而且没有食物也可以从外面的公园买后进入。</a:t>
            </a:r>
            <a:r>
              <a:rPr lang="zh-CN" altLang="en-US" sz="2000" b="1" dirty="0">
                <a:solidFill>
                  <a:srgbClr val="0070C0"/>
                </a:solidFill>
                <a:latin typeface="Arial" panose="020B0604020202020204" pitchFamily="34" charset="0"/>
              </a:rPr>
              <a:t>（人性化政策）</a:t>
            </a:r>
            <a:endParaRPr lang="zh-CN" altLang="en-US" sz="2000" b="1"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On opening day, the Tokyo park discovered that  almost 100 public telephones were placed too high for Japanese guests to reach them comfortably. And many hungry customers found countertops above their reach at the park’s snack stands.</a:t>
            </a:r>
            <a:endParaRPr lang="en-US" altLang="zh-CN" sz="2000" dirty="0">
              <a:solidFill>
                <a:srgbClr val="0070C0"/>
              </a:solidFill>
              <a:latin typeface="Arial" panose="020B0604020202020204" pitchFamily="34" charset="0"/>
            </a:endParaRPr>
          </a:p>
          <a:p>
            <a:pPr eaLnBrk="1" hangingPunct="1"/>
            <a:endParaRPr lang="zh-CN" altLang="en-US" dirty="0">
              <a:latin typeface="Arial" panose="020B0604020202020204" pitchFamily="34" charset="0"/>
            </a:endParaRPr>
          </a:p>
          <a:p>
            <a:pPr eaLnBrk="1" hangingPunct="1"/>
            <a:r>
              <a:rPr lang="zh-CN" altLang="en-US" dirty="0">
                <a:solidFill>
                  <a:srgbClr val="0070C0"/>
                </a:solidFill>
                <a:latin typeface="Arial" panose="020B0604020202020204" pitchFamily="34" charset="0"/>
              </a:rPr>
              <a:t>在乐园开放的那天，他们发现几乎有</a:t>
            </a:r>
            <a:r>
              <a:rPr lang="en-US" altLang="zh-CN" dirty="0">
                <a:solidFill>
                  <a:srgbClr val="0070C0"/>
                </a:solidFill>
                <a:latin typeface="Arial" panose="020B0604020202020204" pitchFamily="34" charset="0"/>
              </a:rPr>
              <a:t>100</a:t>
            </a:r>
            <a:r>
              <a:rPr lang="zh-CN" altLang="en-US" dirty="0">
                <a:solidFill>
                  <a:srgbClr val="0070C0"/>
                </a:solidFill>
                <a:latin typeface="Arial" panose="020B0604020202020204" pitchFamily="34" charset="0"/>
              </a:rPr>
              <a:t>部公共电话被放置在很高的地方，以至于游客不能很方便的使用。而且很多饿了的游客也发现在乐园里的零食站的台面超过了他们所能承受的范围。</a:t>
            </a:r>
            <a:r>
              <a:rPr lang="zh-CN" altLang="en-US" b="1" dirty="0">
                <a:solidFill>
                  <a:srgbClr val="0070C0"/>
                </a:solidFill>
                <a:latin typeface="Arial" panose="020B0604020202020204" pitchFamily="34" charset="0"/>
              </a:rPr>
              <a:t>（遇到的障碍）</a:t>
            </a:r>
            <a:endParaRPr lang="zh-CN" altLang="en-US" b="1" dirty="0">
              <a:solidFill>
                <a:srgbClr val="0070C0"/>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10" name="Picture 2" descr="03"/>
          <p:cNvPicPr>
            <a:picLocks noChangeAspect="1"/>
          </p:cNvPicPr>
          <p:nvPr/>
        </p:nvPicPr>
        <p:blipFill>
          <a:blip r:embed="rId1"/>
          <a:stretch>
            <a:fillRect/>
          </a:stretch>
        </p:blipFill>
        <p:spPr>
          <a:xfrm>
            <a:off x="6372225" y="4508500"/>
            <a:ext cx="1728788" cy="2305050"/>
          </a:xfrm>
          <a:prstGeom prst="rect">
            <a:avLst/>
          </a:prstGeom>
          <a:noFill/>
          <a:ln w="9525">
            <a:noFill/>
          </a:ln>
        </p:spPr>
      </p:pic>
      <p:sp>
        <p:nvSpPr>
          <p:cNvPr id="17411" name="Text Box 3"/>
          <p:cNvSpPr txBox="1"/>
          <p:nvPr/>
        </p:nvSpPr>
        <p:spPr>
          <a:xfrm>
            <a:off x="323850" y="981075"/>
            <a:ext cx="8135938" cy="3749675"/>
          </a:xfrm>
          <a:prstGeom prst="rect">
            <a:avLst/>
          </a:prstGeom>
          <a:noFill/>
          <a:ln w="9525">
            <a:noFill/>
          </a:ln>
        </p:spPr>
        <p:txBody>
          <a:bodyPr>
            <a:spAutoFit/>
          </a:bodyPr>
          <a:p>
            <a:pPr eaLnBrk="1" hangingPunct="1">
              <a:lnSpc>
                <a:spcPct val="150000"/>
              </a:lnSpc>
            </a:pPr>
            <a:r>
              <a:rPr lang="zh-CN" altLang="en-US" sz="2000" dirty="0">
                <a:solidFill>
                  <a:srgbClr val="0070C0"/>
                </a:solidFill>
                <a:latin typeface="Arial" panose="020B0604020202020204" pitchFamily="34" charset="0"/>
                <a:sym typeface="Arial Black" panose="020B0A04020102020204" pitchFamily="2" charset="0"/>
              </a:rPr>
              <a:t>       大家也知道日本与美国的关系，所以日本对于美国的文化与风俗是相当推崇的，日本迪士尼的的种种风格更是毫不例外。对于日本迪士尼，他们毫不掩饰的效仿美国，克隆美国，比如说园内的麦当劳、肯德基，这些都是很受年轻人欢迎的；然而却也遇到了一些小状况，就像我在上文翻译的，在完全的克隆美国迪士尼的时候，他们忽略了本国人民的一些客观因素，例如身高问题，导致本国人民用户体验的不完善，不过我想，在日本这样一个善于学习的国家，这些问题应该很快就会被解决吧。</a:t>
            </a: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7412" name="Rectangle 4"/>
          <p:cNvSpPr/>
          <p:nvPr/>
        </p:nvSpPr>
        <p:spPr>
          <a:xfrm>
            <a:off x="1692275" y="5157788"/>
            <a:ext cx="360045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13" name="Text Box 5"/>
          <p:cNvSpPr txBox="1"/>
          <p:nvPr/>
        </p:nvSpPr>
        <p:spPr>
          <a:xfrm>
            <a:off x="1835150" y="5229225"/>
            <a:ext cx="3600450" cy="519113"/>
          </a:xfrm>
          <a:prstGeom prst="rect">
            <a:avLst/>
          </a:prstGeom>
          <a:noFill/>
          <a:ln w="9525">
            <a:noFill/>
          </a:ln>
        </p:spPr>
        <p:txBody>
          <a:bodyPr>
            <a:spAutoFit/>
          </a:bodyPr>
          <a:p>
            <a:pPr>
              <a:spcBef>
                <a:spcPct val="50000"/>
              </a:spcBef>
            </a:pPr>
            <a:r>
              <a:rPr lang="zh-CN" altLang="en-US" sz="2800" b="1" dirty="0">
                <a:latin typeface="Arial" panose="020B0604020202020204" pitchFamily="34" charset="0"/>
                <a:ea typeface="楷体" panose="02010609060101010101" pitchFamily="1" charset="-122"/>
              </a:rPr>
              <a:t>在不断学习中进步！</a:t>
            </a:r>
            <a:endParaRPr lang="zh-CN" altLang="en-US" sz="2800" b="1" dirty="0">
              <a:latin typeface="Arial" panose="020B0604020202020204" pitchFamily="34" charset="0"/>
              <a:ea typeface="楷体" panose="02010609060101010101" pitchFamily="1"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ppt_x"/>
                                          </p:val>
                                        </p:tav>
                                        <p:tav tm="100000">
                                          <p:val>
                                            <p:strVal val="#ppt_x"/>
                                          </p:val>
                                        </p:tav>
                                      </p:tavLst>
                                    </p:anim>
                                    <p:anim calcmode="lin" valueType="num">
                                      <p:cBhvr additive="base">
                                        <p:cTn id="8"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3"/>
                                        </p:tgtEl>
                                        <p:attrNameLst>
                                          <p:attrName>style.visibility</p:attrName>
                                        </p:attrNameLst>
                                      </p:cBhvr>
                                      <p:to>
                                        <p:strVal val="visible"/>
                                      </p:to>
                                    </p:set>
                                    <p:anim calcmode="lin" valueType="num">
                                      <p:cBhvr additive="base">
                                        <p:cTn id="13" dur="500" fill="hold"/>
                                        <p:tgtEl>
                                          <p:spTgt spid="17413"/>
                                        </p:tgtEl>
                                        <p:attrNameLst>
                                          <p:attrName>ppt_x</p:attrName>
                                        </p:attrNameLst>
                                      </p:cBhvr>
                                      <p:tavLst>
                                        <p:tav tm="0">
                                          <p:val>
                                            <p:strVal val="#ppt_x"/>
                                          </p:val>
                                        </p:tav>
                                        <p:tav tm="100000">
                                          <p:val>
                                            <p:strVal val="#ppt_x"/>
                                          </p:val>
                                        </p:tav>
                                      </p:tavLst>
                                    </p:anim>
                                    <p:anim calcmode="lin" valueType="num">
                                      <p:cBhvr additive="base">
                                        <p:cTn id="14"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nimBg="1"/>
      <p:bldP spid="174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18435" name="Text Box 3"/>
          <p:cNvSpPr txBox="1"/>
          <p:nvPr/>
        </p:nvSpPr>
        <p:spPr>
          <a:xfrm>
            <a:off x="468313" y="620713"/>
            <a:ext cx="7851775" cy="549275"/>
          </a:xfrm>
          <a:prstGeom prst="rect">
            <a:avLst/>
          </a:prstGeom>
          <a:noFill/>
          <a:ln w="9525">
            <a:noFill/>
          </a:ln>
        </p:spPr>
        <p:txBody>
          <a:bodyPr>
            <a:spAutoFit/>
          </a:bodyPr>
          <a:p>
            <a:pPr eaLnBrk="1" hangingPunct="1">
              <a:lnSpc>
                <a:spcPct val="150000"/>
              </a:lnSpc>
            </a:pPr>
            <a:endParaRPr lang="zh-CN" altLang="en-US" sz="2000" dirty="0">
              <a:solidFill>
                <a:srgbClr val="0070C0"/>
              </a:solidFill>
              <a:latin typeface="Arial" panose="020B0604020202020204" pitchFamily="34" charset="0"/>
              <a:sym typeface="Arial Black" panose="020B0A04020102020204" pitchFamily="2" charset="0"/>
            </a:endParaRPr>
          </a:p>
        </p:txBody>
      </p:sp>
      <p:sp>
        <p:nvSpPr>
          <p:cNvPr id="18436" name="Rectangle 5"/>
          <p:cNvSpPr/>
          <p:nvPr/>
        </p:nvSpPr>
        <p:spPr>
          <a:xfrm>
            <a:off x="250825" y="765175"/>
            <a:ext cx="8316913" cy="3843338"/>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日本迪士尼乐园无疑是目前最成功的，在资金方面，美国本部甚至没有丝毫的投入，只是指导和建造经营而已。那么</a:t>
            </a:r>
            <a:r>
              <a:rPr lang="zh-CN" altLang="en-US" dirty="0">
                <a:solidFill>
                  <a:srgbClr val="0070C0"/>
                </a:solidFill>
                <a:latin typeface="Arial" panose="020B0604020202020204" pitchFamily="34" charset="0"/>
              </a:rPr>
              <a:t>大家可能也会很疑惑，</a:t>
            </a:r>
            <a:r>
              <a:rPr lang="zh-CN" altLang="en-US" sz="2000" b="1" dirty="0">
                <a:solidFill>
                  <a:srgbClr val="0070C0"/>
                </a:solidFill>
                <a:latin typeface="Arial" panose="020B0604020202020204" pitchFamily="34" charset="0"/>
              </a:rPr>
              <a:t>日本迪士尼为什么会这么成功呢？</a:t>
            </a:r>
            <a:endParaRPr lang="zh-CN" altLang="en-US" sz="2000" b="1" dirty="0">
              <a:solidFill>
                <a:srgbClr val="0070C0"/>
              </a:solidFill>
              <a:latin typeface="Arial" panose="020B0604020202020204" pitchFamily="34" charset="0"/>
            </a:endParaRPr>
          </a:p>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r>
              <a:rPr lang="en-US" altLang="zh-CN" sz="2000" dirty="0">
                <a:solidFill>
                  <a:srgbClr val="0070C0"/>
                </a:solidFill>
                <a:latin typeface="Arial" panose="020B0604020202020204" pitchFamily="34" charset="0"/>
              </a:rPr>
              <a:t>       2008</a:t>
            </a:r>
            <a:r>
              <a:rPr lang="zh-CN" altLang="en-US" sz="2000" dirty="0">
                <a:solidFill>
                  <a:srgbClr val="0070C0"/>
                </a:solidFill>
                <a:latin typeface="Arial" panose="020B0604020202020204" pitchFamily="34" charset="0"/>
              </a:rPr>
              <a:t>年，金融危机席卷了全世界，多少家公司倒闭，多少家企业破产，在这样一个</a:t>
            </a:r>
            <a:r>
              <a:rPr lang="zh-CN" altLang="en-US" dirty="0">
                <a:solidFill>
                  <a:srgbClr val="0070C0"/>
                </a:solidFill>
                <a:latin typeface="Arial" panose="020B0604020202020204" pitchFamily="34" charset="0"/>
              </a:rPr>
              <a:t>经济萧条的大环境下，日本迪士尼不但毫发未损的活了下来，并且创造了历史年参观人数的最高纪录</a:t>
            </a:r>
            <a:r>
              <a:rPr lang="en-US" altLang="zh-CN" dirty="0">
                <a:solidFill>
                  <a:srgbClr val="0070C0"/>
                </a:solidFill>
                <a:latin typeface="Arial" panose="020B0604020202020204" pitchFamily="34" charset="0"/>
              </a:rPr>
              <a:t>1700</a:t>
            </a:r>
            <a:r>
              <a:rPr lang="zh-CN" altLang="en-US" dirty="0">
                <a:solidFill>
                  <a:srgbClr val="0070C0"/>
                </a:solidFill>
                <a:latin typeface="Arial" panose="020B0604020202020204" pitchFamily="34" charset="0"/>
              </a:rPr>
              <a:t>万人次。</a:t>
            </a:r>
            <a:endParaRPr lang="zh-CN" altLang="en-US" dirty="0">
              <a:solidFill>
                <a:srgbClr val="0070C0"/>
              </a:solidFill>
              <a:latin typeface="Arial" panose="020B0604020202020204" pitchFamily="34" charset="0"/>
            </a:endParaRPr>
          </a:p>
          <a:p>
            <a:pPr eaLnBrk="1" hangingPunct="1"/>
            <a:endParaRPr lang="zh-CN" altLang="en-US" dirty="0">
              <a:solidFill>
                <a:srgbClr val="0070C0"/>
              </a:solidFill>
              <a:latin typeface="Arial" panose="020B0604020202020204" pitchFamily="34" charset="0"/>
            </a:endParaRPr>
          </a:p>
          <a:p>
            <a:pPr eaLnBrk="1" hangingPunct="1"/>
            <a:r>
              <a:rPr lang="zh-CN" altLang="en-US" b="1" dirty="0">
                <a:solidFill>
                  <a:srgbClr val="0070C0"/>
                </a:solidFill>
                <a:latin typeface="Arial" panose="020B0604020202020204" pitchFamily="34" charset="0"/>
              </a:rPr>
              <a:t>       我想，他最大的成功，是人心经营的成功。在当时如此不确定的时代，迪士尼却能给那些垂头丧气的人带来欢乐、光明、梦想，给他们带来信心、幸福、勇气。因为他们以“造梦”为宗旨，为人间制造“天堂”，当那些艰苦的工薪阶层在“朝九晚五”的平庸中挣扎时，而迪士尼乐园的世界，却能让他们暂时摆脱平庸的束缚！</a:t>
            </a:r>
            <a:endParaRPr lang="zh-CN" altLang="en-US" b="1" dirty="0">
              <a:solidFill>
                <a:srgbClr val="0070C0"/>
              </a:solidFill>
              <a:latin typeface="Arial" panose="020B0604020202020204" pitchFamily="34" charset="0"/>
            </a:endParaRPr>
          </a:p>
        </p:txBody>
      </p:sp>
      <p:sp>
        <p:nvSpPr>
          <p:cNvPr id="18437" name="Rectangle 5"/>
          <p:cNvSpPr/>
          <p:nvPr/>
        </p:nvSpPr>
        <p:spPr>
          <a:xfrm>
            <a:off x="1476375" y="5084763"/>
            <a:ext cx="3816350" cy="71913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38" name="Text Box 6"/>
          <p:cNvSpPr txBox="1"/>
          <p:nvPr/>
        </p:nvSpPr>
        <p:spPr>
          <a:xfrm>
            <a:off x="1619250" y="5157788"/>
            <a:ext cx="4608513" cy="519112"/>
          </a:xfrm>
          <a:prstGeom prst="rect">
            <a:avLst/>
          </a:prstGeom>
          <a:noFill/>
          <a:ln w="9525">
            <a:noFill/>
          </a:ln>
        </p:spPr>
        <p:txBody>
          <a:bodyPr>
            <a:spAutoFit/>
          </a:bodyPr>
          <a:p>
            <a:pPr>
              <a:spcBef>
                <a:spcPct val="50000"/>
              </a:spcBef>
            </a:pPr>
            <a:r>
              <a:rPr lang="zh-CN" altLang="en-US" sz="2800" b="1" dirty="0">
                <a:latin typeface="Arial" panose="020B0604020202020204" pitchFamily="34" charset="0"/>
                <a:ea typeface="楷体" panose="02010609060101010101" pitchFamily="1" charset="-122"/>
              </a:rPr>
              <a:t>用户体验做到了极致！</a:t>
            </a:r>
            <a:endParaRPr lang="zh-CN" altLang="en-US" sz="2800" b="1" dirty="0">
              <a:latin typeface="Arial" panose="020B0604020202020204" pitchFamily="34" charset="0"/>
              <a:ea typeface="楷体" panose="02010609060101010101"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 calcmode="lin" valueType="num">
                                      <p:cBhvr additive="base">
                                        <p:cTn id="7" dur="500" fill="hold"/>
                                        <p:tgtEl>
                                          <p:spTgt spid="18437"/>
                                        </p:tgtEl>
                                        <p:attrNameLst>
                                          <p:attrName>ppt_x</p:attrName>
                                        </p:attrNameLst>
                                      </p:cBhvr>
                                      <p:tavLst>
                                        <p:tav tm="0">
                                          <p:val>
                                            <p:strVal val="#ppt_x"/>
                                          </p:val>
                                        </p:tav>
                                        <p:tav tm="100000">
                                          <p:val>
                                            <p:strVal val="#ppt_x"/>
                                          </p:val>
                                        </p:tav>
                                      </p:tavLst>
                                    </p:anim>
                                    <p:anim calcmode="lin" valueType="num">
                                      <p:cBhvr additive="base">
                                        <p:cTn id="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8"/>
                                        </p:tgtEl>
                                        <p:attrNameLst>
                                          <p:attrName>style.visibility</p:attrName>
                                        </p:attrNameLst>
                                      </p:cBhvr>
                                      <p:to>
                                        <p:strVal val="visible"/>
                                      </p:to>
                                    </p:set>
                                    <p:anim calcmode="lin" valueType="num">
                                      <p:cBhvr additive="base">
                                        <p:cTn id="13" dur="500" fill="hold"/>
                                        <p:tgtEl>
                                          <p:spTgt spid="18438"/>
                                        </p:tgtEl>
                                        <p:attrNameLst>
                                          <p:attrName>ppt_x</p:attrName>
                                        </p:attrNameLst>
                                      </p:cBhvr>
                                      <p:tavLst>
                                        <p:tav tm="0">
                                          <p:val>
                                            <p:strVal val="#ppt_x"/>
                                          </p:val>
                                        </p:tav>
                                        <p:tav tm="100000">
                                          <p:val>
                                            <p:strVal val="#ppt_x"/>
                                          </p:val>
                                        </p:tav>
                                      </p:tavLst>
                                    </p:anim>
                                    <p:anim calcmode="lin" valueType="num">
                                      <p:cBhvr additive="base">
                                        <p:cTn id="14"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19459"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19460" name="AutoShape 6" descr="GM9TMM0E61]$[YZGR0PV5"/>
          <p:cNvSpPr>
            <a:spLocks noChangeAspect="1"/>
          </p:cNvSpPr>
          <p:nvPr/>
        </p:nvSpPr>
        <p:spPr>
          <a:xfrm>
            <a:off x="6465888" y="3043238"/>
            <a:ext cx="304800" cy="304800"/>
          </a:xfrm>
          <a:prstGeom prst="rect">
            <a:avLst/>
          </a:prstGeom>
          <a:noFill/>
          <a:ln w="9525">
            <a:noFill/>
          </a:ln>
        </p:spPr>
        <p:txBody>
          <a:bodyPr/>
          <a:p>
            <a:pPr eaLnBrk="1" hangingPunct="1"/>
            <a:endParaRPr lang="zh-CN" altLang="en-US" dirty="0">
              <a:latin typeface="Arial" panose="020B0604020202020204" pitchFamily="34" charset="0"/>
            </a:endParaRPr>
          </a:p>
        </p:txBody>
      </p:sp>
      <p:sp>
        <p:nvSpPr>
          <p:cNvPr id="19461" name="文本框 1"/>
          <p:cNvSpPr txBox="1"/>
          <p:nvPr/>
        </p:nvSpPr>
        <p:spPr>
          <a:xfrm>
            <a:off x="498475" y="117475"/>
            <a:ext cx="8085138" cy="7940675"/>
          </a:xfrm>
          <a:prstGeom prst="rect">
            <a:avLst/>
          </a:prstGeom>
          <a:noFill/>
          <a:ln w="9525">
            <a:noFill/>
          </a:ln>
        </p:spPr>
        <p:txBody>
          <a:bodyPr>
            <a:spAutoFit/>
          </a:bodyPr>
          <a:p>
            <a:pPr eaLnBrk="1" hangingPunct="1">
              <a:lnSpc>
                <a:spcPct val="150000"/>
              </a:lnSpc>
            </a:pPr>
            <a:r>
              <a:rPr lang="en-US" altLang="zh-CN" dirty="0">
                <a:latin typeface="Arial" panose="020B0604020202020204" pitchFamily="34" charset="0"/>
              </a:rPr>
              <a:t> </a:t>
            </a:r>
            <a:r>
              <a:rPr lang="en-US" altLang="zh-CN" sz="2000" dirty="0">
                <a:solidFill>
                  <a:srgbClr val="0070C0"/>
                </a:solidFill>
                <a:latin typeface="Arial" panose="020B0604020202020204" pitchFamily="34" charset="0"/>
              </a:rPr>
              <a:t>Still,local sensibilities dicated a few changes. A Japanese restaurant was added to please older patrons.The Nautilus submarine is missing.More areas are covered to protect against rain and snow.</a:t>
            </a:r>
            <a:endParaRPr lang="en-US" altLang="zh-CN" sz="2000" dirty="0">
              <a:solidFill>
                <a:srgbClr val="0070C0"/>
              </a:solidFill>
              <a:latin typeface="Arial" panose="020B0604020202020204" pitchFamily="34" charset="0"/>
            </a:endParaRPr>
          </a:p>
          <a:p>
            <a:pPr eaLnBrk="1" hangingPunct="1">
              <a:lnSpc>
                <a:spcPct val="150000"/>
              </a:lnSpc>
            </a:pPr>
            <a:r>
              <a:rPr lang="zh-CN" altLang="en-US" sz="2000" dirty="0">
                <a:solidFill>
                  <a:srgbClr val="0070C0"/>
                </a:solidFill>
                <a:latin typeface="Arial" panose="020B0604020202020204" pitchFamily="34" charset="0"/>
              </a:rPr>
              <a:t>然而，当地民情决定了一些变化。比如开了日本餐馆来讨年老顾客的欢心，“鹦鹉螺号”潜艇逐步地消失，更多的地方设计为室内免受雨雪的干扰。</a:t>
            </a:r>
            <a:endParaRPr lang="en-US" altLang="zh-CN" sz="2000" dirty="0">
              <a:solidFill>
                <a:srgbClr val="0070C0"/>
              </a:solidFill>
              <a:latin typeface="Arial" panose="020B0604020202020204" pitchFamily="34" charset="0"/>
            </a:endParaRPr>
          </a:p>
          <a:p>
            <a:pPr eaLnBrk="1" hangingPunct="1">
              <a:lnSpc>
                <a:spcPct val="150000"/>
              </a:lnSpc>
            </a:pPr>
            <a:r>
              <a:rPr lang="en-US" altLang="zh-CN" sz="2000" dirty="0">
                <a:solidFill>
                  <a:srgbClr val="0070C0"/>
                </a:solidFill>
                <a:latin typeface="Arial" panose="020B0604020202020204" pitchFamily="34" charset="0"/>
              </a:rPr>
              <a:t>Lines for attractions had  to be redesigned so that people walking through the park did not cross in front of patrons waiting to ride an attraction .”it’s very discourteous in Japan  to have people cross in front of somebody else.”explained James B.Cora,managing director of operations for the Tokyo project.</a:t>
            </a:r>
            <a:endParaRPr lang="en-US" altLang="zh-CN" sz="2000" dirty="0">
              <a:solidFill>
                <a:srgbClr val="0070C0"/>
              </a:solidFill>
              <a:latin typeface="Arial" panose="020B0604020202020204" pitchFamily="34" charset="0"/>
            </a:endParaRPr>
          </a:p>
          <a:p>
            <a:pPr eaLnBrk="1" hangingPunct="1">
              <a:lnSpc>
                <a:spcPct val="150000"/>
              </a:lnSpc>
            </a:pPr>
            <a:r>
              <a:rPr lang="zh-CN" altLang="en-US" sz="2000" dirty="0">
                <a:solidFill>
                  <a:srgbClr val="0070C0"/>
                </a:solidFill>
                <a:latin typeface="Arial" panose="020B0604020202020204" pitchFamily="34" charset="0"/>
              </a:rPr>
              <a:t>经典路线的重新设计，避免出现漫步穿越公园的人于准备骑行于某景点的顾客面前交叉走过。“在日本从别人面前交叉走过这种行为是极为失礼的。”东京项目运营部总经理</a:t>
            </a:r>
            <a:r>
              <a:rPr lang="en-US" altLang="zh-CN" sz="2000" dirty="0">
                <a:solidFill>
                  <a:srgbClr val="0070C0"/>
                </a:solidFill>
                <a:latin typeface="Arial" panose="020B0604020202020204" pitchFamily="34" charset="0"/>
              </a:rPr>
              <a:t>James B cora </a:t>
            </a:r>
            <a:r>
              <a:rPr lang="zh-CN" altLang="en-US" sz="2000" dirty="0">
                <a:solidFill>
                  <a:srgbClr val="0070C0"/>
                </a:solidFill>
                <a:latin typeface="Arial" panose="020B0604020202020204" pitchFamily="34" charset="0"/>
              </a:rPr>
              <a:t>如是解释道。 </a:t>
            </a:r>
            <a:endParaRPr lang="zh-CN" altLang="en-US" sz="2000" dirty="0">
              <a:solidFill>
                <a:srgbClr val="0070C0"/>
              </a:solidFill>
              <a:latin typeface="Arial" panose="020B0604020202020204" pitchFamily="34" charset="0"/>
            </a:endParaRPr>
          </a:p>
          <a:p>
            <a:pPr eaLnBrk="1" hangingPunct="1">
              <a:lnSpc>
                <a:spcPct val="150000"/>
              </a:lnSpc>
            </a:pPr>
            <a:endParaRPr lang="en-US" altLang="zh-CN" sz="2000" dirty="0">
              <a:solidFill>
                <a:srgbClr val="0070C0"/>
              </a:solidFill>
              <a:latin typeface="Arial" panose="020B0604020202020204" pitchFamily="34" charset="0"/>
            </a:endParaRPr>
          </a:p>
          <a:p>
            <a:pPr eaLnBrk="1" hangingPunct="1">
              <a:lnSpc>
                <a:spcPct val="150000"/>
              </a:lnSpc>
            </a:pPr>
            <a:endParaRPr lang="en-US" altLang="zh-CN" sz="2000" dirty="0">
              <a:solidFill>
                <a:srgbClr val="0070C0"/>
              </a:solidFill>
              <a:latin typeface="Arial" panose="020B0604020202020204" pitchFamily="34" charset="0"/>
            </a:endParaRPr>
          </a:p>
          <a:p>
            <a:pPr eaLnBrk="1" hangingPunct="1">
              <a:lnSpc>
                <a:spcPct val="150000"/>
              </a:lnSpc>
            </a:pPr>
            <a:endParaRPr lang="zh-CN" altLang="en-US" sz="2000" dirty="0">
              <a:solidFill>
                <a:srgbClr val="0070C0"/>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0483"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0484" name="AutoShape 6" descr="GM9TMM0E61]$[YZGR0PV5"/>
          <p:cNvSpPr>
            <a:spLocks noChangeAspect="1"/>
          </p:cNvSpPr>
          <p:nvPr/>
        </p:nvSpPr>
        <p:spPr>
          <a:xfrm>
            <a:off x="6465888" y="3043238"/>
            <a:ext cx="304800" cy="304800"/>
          </a:xfrm>
          <a:prstGeom prst="rect">
            <a:avLst/>
          </a:prstGeom>
          <a:noFill/>
          <a:ln w="9525">
            <a:noFill/>
          </a:ln>
        </p:spPr>
        <p:txBody>
          <a:bodyPr/>
          <a:p>
            <a:pPr eaLnBrk="1" hangingPunct="1"/>
            <a:endParaRPr lang="zh-CN" altLang="en-US" dirty="0">
              <a:latin typeface="Arial" panose="020B0604020202020204" pitchFamily="34" charset="0"/>
            </a:endParaRPr>
          </a:p>
        </p:txBody>
      </p:sp>
      <p:pic>
        <p:nvPicPr>
          <p:cNvPr id="20485" name="图片 2"/>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1507"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1508" name="AutoShape 6" descr="GM9TMM0E61]$[YZGR0PV5"/>
          <p:cNvSpPr>
            <a:spLocks noChangeAspect="1"/>
          </p:cNvSpPr>
          <p:nvPr/>
        </p:nvSpPr>
        <p:spPr>
          <a:xfrm>
            <a:off x="6465888" y="3043238"/>
            <a:ext cx="304800" cy="304800"/>
          </a:xfrm>
          <a:prstGeom prst="rect">
            <a:avLst/>
          </a:prstGeom>
          <a:noFill/>
          <a:ln w="9525">
            <a:noFill/>
          </a:ln>
        </p:spPr>
        <p:txBody>
          <a:bodyPr/>
          <a:p>
            <a:pPr eaLnBrk="1" hangingPunct="1"/>
            <a:endParaRPr lang="zh-CN" altLang="en-US" dirty="0">
              <a:latin typeface="Arial" panose="020B0604020202020204" pitchFamily="34" charset="0"/>
            </a:endParaRPr>
          </a:p>
        </p:txBody>
      </p:sp>
      <p:pic>
        <p:nvPicPr>
          <p:cNvPr id="21509" name="图片 1"/>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2531"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2532"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pic>
        <p:nvPicPr>
          <p:cNvPr id="22533" name="图片 1"/>
          <p:cNvPicPr>
            <a:picLocks noChangeAspect="1"/>
          </p:cNvPicPr>
          <p:nvPr/>
        </p:nvPicPr>
        <p:blipFill>
          <a:blip r:embed="rId2"/>
          <a:stretch>
            <a:fillRect/>
          </a:stretch>
        </p:blipFill>
        <p:spPr>
          <a:xfrm>
            <a:off x="0" y="-19050"/>
            <a:ext cx="9169400" cy="687705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3555"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3556"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pic>
        <p:nvPicPr>
          <p:cNvPr id="23557" name="图片 2"/>
          <p:cNvPicPr>
            <a:picLocks noChangeAspect="1"/>
          </p:cNvPicPr>
          <p:nvPr/>
        </p:nvPicPr>
        <p:blipFill>
          <a:blip r:embed="rId2"/>
          <a:stretch>
            <a:fillRect/>
          </a:stretch>
        </p:blipFill>
        <p:spPr>
          <a:xfrm>
            <a:off x="1116013" y="0"/>
            <a:ext cx="4997450" cy="685800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4579"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4580"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4581" name="文本框 1"/>
          <p:cNvSpPr txBox="1"/>
          <p:nvPr/>
        </p:nvSpPr>
        <p:spPr>
          <a:xfrm>
            <a:off x="519113" y="214313"/>
            <a:ext cx="8064500" cy="4524375"/>
          </a:xfrm>
          <a:prstGeom prst="rect">
            <a:avLst/>
          </a:prstGeom>
          <a:noFill/>
          <a:ln w="9525">
            <a:noFill/>
          </a:ln>
        </p:spPr>
        <p:txBody>
          <a:bodyPr>
            <a:spAutoFit/>
          </a:bodyPr>
          <a:p>
            <a:pPr eaLnBrk="1" hangingPunct="1">
              <a:lnSpc>
                <a:spcPct val="150000"/>
              </a:lnSpc>
            </a:pPr>
            <a:r>
              <a:rPr lang="en-US" altLang="zh-CN" sz="2000" dirty="0">
                <a:solidFill>
                  <a:srgbClr val="0070C0"/>
                </a:solidFill>
                <a:latin typeface="Arial" panose="020B0604020202020204" pitchFamily="34" charset="0"/>
              </a:rPr>
              <a:t>The biggest differences between Japan and American have come in slogans and ad copy.Although English is often used .it’s “japanized”english—the sort  that would have  native speakers shaking their head while the japanese nod happily in recognition “let’s spring”was the motto for one of their highly successful ad campaigns.</a:t>
            </a:r>
            <a:endParaRPr lang="en-US" altLang="zh-CN" sz="2000" dirty="0">
              <a:solidFill>
                <a:srgbClr val="0070C0"/>
              </a:solidFill>
              <a:latin typeface="Arial" panose="020B0604020202020204" pitchFamily="34" charset="0"/>
            </a:endParaRPr>
          </a:p>
          <a:p>
            <a:pPr eaLnBrk="1" hangingPunct="1">
              <a:lnSpc>
                <a:spcPct val="150000"/>
              </a:lnSpc>
            </a:pPr>
            <a:r>
              <a:rPr lang="zh-CN" altLang="en-US" sz="2000" dirty="0">
                <a:solidFill>
                  <a:srgbClr val="0070C0"/>
                </a:solidFill>
                <a:latin typeface="Arial" panose="020B0604020202020204" pitchFamily="34" charset="0"/>
              </a:rPr>
              <a:t>日本和美国最大的差异来自于标语和广告语。尽管，它们经常用英语表达，但却是一种“日本式”英语。是那种会让以英语为母语的人摇头难以接受，日本人却点头欣然理解的语言。“</a:t>
            </a:r>
            <a:r>
              <a:rPr lang="en-US" altLang="zh-CN" sz="2000" dirty="0">
                <a:solidFill>
                  <a:srgbClr val="0070C0"/>
                </a:solidFill>
                <a:latin typeface="Arial" panose="020B0604020202020204" pitchFamily="34" charset="0"/>
              </a:rPr>
              <a:t>let's spring"</a:t>
            </a:r>
            <a:r>
              <a:rPr lang="zh-CN" altLang="en-US" sz="2000" dirty="0">
                <a:solidFill>
                  <a:srgbClr val="0070C0"/>
                </a:solidFill>
                <a:latin typeface="Arial" panose="020B0604020202020204" pitchFamily="34" charset="0"/>
              </a:rPr>
              <a:t>就是一个他们大获成功的广告宣传的经典语录。</a:t>
            </a:r>
            <a:endParaRPr lang="zh-CN" altLang="en-US" sz="2000" dirty="0">
              <a:solidFill>
                <a:srgbClr val="0070C0"/>
              </a:solidFill>
              <a:latin typeface="Arial" panose="020B0604020202020204" pitchFamily="34" charset="0"/>
            </a:endParaRPr>
          </a:p>
          <a:p>
            <a:pPr eaLnBrk="1" hangingPunct="1"/>
            <a:endParaRPr lang="zh-CN" altLang="en-US"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5603"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5604"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5605" name="文本框 2"/>
          <p:cNvSpPr txBox="1"/>
          <p:nvPr/>
        </p:nvSpPr>
        <p:spPr>
          <a:xfrm>
            <a:off x="519113" y="350838"/>
            <a:ext cx="7993062" cy="4248150"/>
          </a:xfrm>
          <a:prstGeom prst="rect">
            <a:avLst/>
          </a:prstGeom>
          <a:noFill/>
          <a:ln w="9525">
            <a:noFill/>
          </a:ln>
        </p:spPr>
        <p:txBody>
          <a:bodyPr>
            <a:spAutoFit/>
          </a:bodyPr>
          <a:p>
            <a:pPr eaLnBrk="1" hangingPunct="1"/>
            <a:r>
              <a:rPr lang="en-US" altLang="zh-CN" sz="2000" dirty="0">
                <a:solidFill>
                  <a:srgbClr val="0070C0"/>
                </a:solidFill>
                <a:latin typeface="Arial" panose="020B0604020202020204" pitchFamily="34" charset="0"/>
              </a:rPr>
              <a:t>Pogue, visiting frequently from his base in California supervised seven resident American Disney managers who work side by side with Japanese counterparts from Oriental Land Co. to keep the park in turn with the Disney doctrine American it may be,but Tokyo Disney land appeals to such deep—seated japanese passions as cleanliness,order,standing service,and technological wizardry.</a:t>
            </a:r>
            <a:endParaRPr lang="en-US" altLang="zh-CN" sz="2000" dirty="0">
              <a:solidFill>
                <a:srgbClr val="0070C0"/>
              </a:solidFill>
              <a:latin typeface="Arial" panose="020B0604020202020204" pitchFamily="34" charset="0"/>
            </a:endParaRPr>
          </a:p>
          <a:p>
            <a:pPr eaLnBrk="1" hangingPunct="1">
              <a:lnSpc>
                <a:spcPct val="150000"/>
              </a:lnSpc>
            </a:pPr>
            <a:r>
              <a:rPr lang="en-US" altLang="zh-CN" sz="2000" dirty="0">
                <a:solidFill>
                  <a:srgbClr val="0070C0"/>
                </a:solidFill>
                <a:latin typeface="Arial" panose="020B0604020202020204" pitchFamily="34" charset="0"/>
              </a:rPr>
              <a:t>Pouge,</a:t>
            </a:r>
            <a:r>
              <a:rPr lang="zh-CN" altLang="en-US" sz="2000" dirty="0">
                <a:solidFill>
                  <a:srgbClr val="0070C0"/>
                </a:solidFill>
                <a:latin typeface="Arial" panose="020B0604020202020204" pitchFamily="34" charset="0"/>
              </a:rPr>
              <a:t>频繁视察位于加利福利亚的（迪士尼）大本营，指导过七位驻美迪士尼经理的他，与东方乐园株式会社的日本方面负责人携手合作，致力于使此公园逐步贴近“迪士尼主义”，它也许是美国人的，但在日本的迪士尼乐园展现出了日本人在某些方面根深蒂固的热爱，例如整洁，秩序，杰出的服务和魔幻般的工艺。</a:t>
            </a:r>
            <a:endParaRPr lang="zh-CN" altLang="en-US" sz="2000" dirty="0">
              <a:solidFill>
                <a:srgbClr val="0070C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6627"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6628"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6629" name="文本框 1"/>
          <p:cNvSpPr txBox="1"/>
          <p:nvPr/>
        </p:nvSpPr>
        <p:spPr>
          <a:xfrm>
            <a:off x="538163" y="333375"/>
            <a:ext cx="7921625" cy="3754438"/>
          </a:xfrm>
          <a:prstGeom prst="rect">
            <a:avLst/>
          </a:prstGeom>
          <a:noFill/>
          <a:ln w="9525">
            <a:noFill/>
          </a:ln>
        </p:spPr>
        <p:txBody>
          <a:bodyPr>
            <a:spAutoFit/>
          </a:bodyPr>
          <a:p>
            <a:pPr eaLnBrk="1" hangingPunct="1"/>
            <a:r>
              <a:rPr lang="en-US" altLang="zh-CN" sz="2000" dirty="0">
                <a:solidFill>
                  <a:srgbClr val="0070C0"/>
                </a:solidFill>
                <a:latin typeface="Arial" panose="020B0604020202020204" pitchFamily="34" charset="0"/>
              </a:rPr>
              <a:t>Japanese executives are impressed by Disney’s detailed training manuals ,which teach employees how to make visitors feel like VIPs.Most worth emulating .say the Japanese ,is Disney’s ability to make even the lowliest job seem glamorous,”they have change the image of dirty work .”said Hakuhodo Institute’s Sekizawa.</a:t>
            </a:r>
            <a:endParaRPr lang="en-US" altLang="zh-CN" sz="2000" dirty="0">
              <a:solidFill>
                <a:srgbClr val="0070C0"/>
              </a:solidFill>
              <a:latin typeface="Arial" panose="020B0604020202020204" pitchFamily="34" charset="0"/>
            </a:endParaRPr>
          </a:p>
          <a:p>
            <a:pPr eaLnBrk="1" hangingPunct="1">
              <a:lnSpc>
                <a:spcPct val="150000"/>
              </a:lnSpc>
            </a:pPr>
            <a:r>
              <a:rPr lang="zh-CN" altLang="en-US" sz="2000" dirty="0">
                <a:solidFill>
                  <a:srgbClr val="0070C0"/>
                </a:solidFill>
                <a:latin typeface="Arial" panose="020B0604020202020204" pitchFamily="34" charset="0"/>
              </a:rPr>
              <a:t>日本高管也被迪士尼的训练手册所震撼，它用来授予员工如何使顾客感受到</a:t>
            </a:r>
            <a:r>
              <a:rPr lang="en-US" altLang="zh-CN" sz="2000" dirty="0">
                <a:solidFill>
                  <a:srgbClr val="0070C0"/>
                </a:solidFill>
                <a:latin typeface="Arial" panose="020B0604020202020204" pitchFamily="34" charset="0"/>
              </a:rPr>
              <a:t>VIP</a:t>
            </a:r>
            <a:r>
              <a:rPr lang="zh-CN" altLang="en-US" sz="2000" dirty="0">
                <a:solidFill>
                  <a:srgbClr val="0070C0"/>
                </a:solidFill>
                <a:latin typeface="Arial" panose="020B0604020202020204" pitchFamily="34" charset="0"/>
              </a:rPr>
              <a:t>的待遇。最值得效仿的的地方是，迪士尼有一种使最平凡的工作都看似深富魅力的本领。“他们改变了对苦活的映像”，博报堂的光泽英彦如是说。</a:t>
            </a:r>
            <a:endParaRPr lang="zh-CN" altLang="en-US" sz="2000" dirty="0">
              <a:solidFill>
                <a:srgbClr val="0070C0"/>
              </a:solidFill>
              <a:latin typeface="Arial" panose="020B0604020202020204" pitchFamily="34" charset="0"/>
            </a:endParaRPr>
          </a:p>
          <a:p>
            <a:pPr eaLnBrk="1" hangingPunct="1"/>
            <a:endParaRPr lang="en-US" altLang="zh-CN" dirty="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7651"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7652"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pic>
        <p:nvPicPr>
          <p:cNvPr id="27653" name="图片 2"/>
          <p:cNvPicPr>
            <a:picLocks noChangeAspect="1"/>
          </p:cNvPicPr>
          <p:nvPr/>
        </p:nvPicPr>
        <p:blipFill>
          <a:blip r:embed="rId2"/>
          <a:stretch>
            <a:fillRect/>
          </a:stretch>
        </p:blipFill>
        <p:spPr>
          <a:xfrm>
            <a:off x="1042988" y="-46037"/>
            <a:ext cx="5143500" cy="68580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2" descr="03"/>
          <p:cNvPicPr>
            <a:picLocks noChangeAspect="1"/>
          </p:cNvPicPr>
          <p:nvPr/>
        </p:nvPicPr>
        <p:blipFill>
          <a:blip r:embed="rId1"/>
          <a:stretch>
            <a:fillRect/>
          </a:stretch>
        </p:blipFill>
        <p:spPr>
          <a:xfrm>
            <a:off x="6372225" y="4508500"/>
            <a:ext cx="1727200" cy="2303463"/>
          </a:xfrm>
          <a:prstGeom prst="rect">
            <a:avLst/>
          </a:prstGeom>
          <a:noFill/>
          <a:ln w="9525">
            <a:noFill/>
          </a:ln>
        </p:spPr>
      </p:pic>
      <p:sp>
        <p:nvSpPr>
          <p:cNvPr id="28675" name="Rectangle 4"/>
          <p:cNvSpPr/>
          <p:nvPr/>
        </p:nvSpPr>
        <p:spPr>
          <a:xfrm>
            <a:off x="395288" y="1773238"/>
            <a:ext cx="8064500" cy="701675"/>
          </a:xfrm>
          <a:prstGeom prst="rect">
            <a:avLst/>
          </a:prstGeom>
          <a:noFill/>
          <a:ln w="9525">
            <a:noFill/>
          </a:ln>
        </p:spPr>
        <p:txBody>
          <a:bodyPr anchor="ctr" anchorCtr="0">
            <a:spAutoFit/>
          </a:bodyPr>
          <a:p>
            <a:pPr eaLnBrk="1" hangingPunct="1"/>
            <a:r>
              <a:rPr lang="zh-CN" altLang="en-US" sz="2000" dirty="0">
                <a:solidFill>
                  <a:srgbClr val="0070C0"/>
                </a:solidFill>
                <a:latin typeface="Arial" panose="020B0604020202020204" pitchFamily="34" charset="0"/>
              </a:rPr>
              <a:t> </a:t>
            </a:r>
            <a:endParaRPr lang="zh-CN" altLang="en-US" sz="2000" dirty="0">
              <a:solidFill>
                <a:srgbClr val="0070C0"/>
              </a:solidFill>
              <a:latin typeface="Arial" panose="020B0604020202020204" pitchFamily="34" charset="0"/>
            </a:endParaRPr>
          </a:p>
          <a:p>
            <a:pPr eaLnBrk="1" hangingPunct="1"/>
            <a:endParaRPr lang="zh-CN" altLang="en-US" sz="2000" dirty="0">
              <a:solidFill>
                <a:srgbClr val="0070C0"/>
              </a:solidFill>
              <a:latin typeface="Arial" panose="020B0604020202020204" pitchFamily="34" charset="0"/>
            </a:endParaRPr>
          </a:p>
        </p:txBody>
      </p:sp>
      <p:sp>
        <p:nvSpPr>
          <p:cNvPr id="28676" name="Rectangle 5"/>
          <p:cNvSpPr/>
          <p:nvPr/>
        </p:nvSpPr>
        <p:spPr>
          <a:xfrm>
            <a:off x="395288" y="4351338"/>
            <a:ext cx="247650" cy="366712"/>
          </a:xfrm>
          <a:prstGeom prst="rect">
            <a:avLst/>
          </a:prstGeom>
          <a:noFill/>
          <a:ln w="9525">
            <a:noFill/>
          </a:ln>
        </p:spPr>
        <p:txBody>
          <a:bodyPr wrap="none" anchor="ctr" anchorCtr="0">
            <a:spAutoFit/>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p:txBody>
      </p:sp>
      <p:pic>
        <p:nvPicPr>
          <p:cNvPr id="28677" name="图片 2"/>
          <p:cNvPicPr>
            <a:picLocks noChangeAspect="1"/>
          </p:cNvPicPr>
          <p:nvPr/>
        </p:nvPicPr>
        <p:blipFill>
          <a:blip r:embed="rId2"/>
          <a:stretch>
            <a:fillRect/>
          </a:stretch>
        </p:blipFill>
        <p:spPr>
          <a:xfrm>
            <a:off x="252413" y="0"/>
            <a:ext cx="8639175" cy="685800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extBox 1"/>
          <p:cNvSpPr/>
          <p:nvPr/>
        </p:nvSpPr>
        <p:spPr>
          <a:xfrm>
            <a:off x="179388" y="0"/>
            <a:ext cx="8534400" cy="2554288"/>
          </a:xfrm>
          <a:prstGeom prst="rect">
            <a:avLst/>
          </a:prstGeom>
          <a:solidFill>
            <a:srgbClr val="FFFFFF"/>
          </a:solidFill>
          <a:ln w="25400" cap="flat" cmpd="sng">
            <a:solidFill>
              <a:srgbClr val="AEBAD5"/>
            </a:solidFill>
            <a:prstDash val="solid"/>
            <a:miter/>
            <a:headEnd type="none" w="med" len="med"/>
            <a:tailEnd type="none" w="med" len="med"/>
          </a:ln>
        </p:spPr>
        <p:txBody>
          <a:bodyPr>
            <a:spAutoFit/>
          </a:bodyPr>
          <a:p>
            <a:pPr eaLnBrk="1" hangingPunct="1"/>
            <a:r>
              <a:rPr lang="en-US" altLang="zh-CN" sz="2000" b="1" dirty="0">
                <a:solidFill>
                  <a:srgbClr val="0070C0"/>
                </a:solidFill>
                <a:latin typeface="Arial Black" panose="020B0A04020102020204" pitchFamily="2" charset="0"/>
                <a:sym typeface="Arial Black" panose="020B0A04020102020204" pitchFamily="2" charset="0"/>
              </a:rPr>
              <a:t>Encounter </a:t>
            </a:r>
            <a:r>
              <a:rPr lang="zh-CN" altLang="en-US" sz="2000" b="1" dirty="0">
                <a:solidFill>
                  <a:srgbClr val="0070C0"/>
                </a:solidFill>
                <a:latin typeface="Arial Black" panose="020B0A04020102020204" pitchFamily="2" charset="0"/>
                <a:sym typeface="Arial Black" panose="020B0A04020102020204" pitchFamily="2" charset="0"/>
              </a:rPr>
              <a:t>遭遇</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Slaughter  </a:t>
            </a:r>
            <a:r>
              <a:rPr lang="zh-CN" altLang="en-US" sz="2000" b="1" dirty="0">
                <a:solidFill>
                  <a:srgbClr val="0070C0"/>
                </a:solidFill>
                <a:latin typeface="Arial Black" panose="020B0A04020102020204" pitchFamily="2" charset="0"/>
                <a:sym typeface="Arial Black" panose="020B0A04020102020204" pitchFamily="2" charset="0"/>
              </a:rPr>
              <a:t>屠杀</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rustic-looking </a:t>
            </a:r>
            <a:r>
              <a:rPr lang="zh-CN" altLang="en-US" sz="2000" b="1" dirty="0">
                <a:solidFill>
                  <a:srgbClr val="0070C0"/>
                </a:solidFill>
                <a:latin typeface="Arial Black" panose="020B0A04020102020204" pitchFamily="2" charset="0"/>
                <a:sym typeface="Arial Black" panose="020B0A04020102020204" pitchFamily="2" charset="0"/>
              </a:rPr>
              <a:t>土气的</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Crew  </a:t>
            </a:r>
            <a:r>
              <a:rPr lang="zh-CN" altLang="en-US" sz="2000" b="1" dirty="0">
                <a:solidFill>
                  <a:srgbClr val="0070C0"/>
                </a:solidFill>
                <a:latin typeface="Arial Black" panose="020B0A04020102020204" pitchFamily="2" charset="0"/>
                <a:sym typeface="Arial Black" panose="020B0A04020102020204" pitchFamily="2" charset="0"/>
              </a:rPr>
              <a:t>全体人员                                            </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Firsthand </a:t>
            </a:r>
            <a:r>
              <a:rPr lang="zh-CN" altLang="en-US" sz="2000" b="1" dirty="0">
                <a:solidFill>
                  <a:srgbClr val="0070C0"/>
                </a:solidFill>
                <a:latin typeface="Arial Black" panose="020B0A04020102020204" pitchFamily="2" charset="0"/>
                <a:sym typeface="Arial Black" panose="020B0A04020102020204" pitchFamily="2" charset="0"/>
              </a:rPr>
              <a:t>直接的                                        </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Escalate </a:t>
            </a:r>
            <a:r>
              <a:rPr lang="zh-CN" altLang="en-US" sz="2000" b="1" dirty="0">
                <a:solidFill>
                  <a:srgbClr val="0070C0"/>
                </a:solidFill>
                <a:latin typeface="Arial Black" panose="020B0A04020102020204" pitchFamily="2" charset="0"/>
                <a:sym typeface="Arial Black" panose="020B0A04020102020204" pitchFamily="2" charset="0"/>
              </a:rPr>
              <a:t>升级</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Oriental land </a:t>
            </a:r>
            <a:r>
              <a:rPr lang="zh-CN" altLang="en-US" sz="2000" b="1" dirty="0">
                <a:solidFill>
                  <a:srgbClr val="0070C0"/>
                </a:solidFill>
                <a:latin typeface="Arial Black" panose="020B0A04020102020204" pitchFamily="2" charset="0"/>
                <a:sym typeface="Arial Black" panose="020B0A04020102020204" pitchFamily="2" charset="0"/>
              </a:rPr>
              <a:t>东方乐园公司                         </a:t>
            </a:r>
            <a:endParaRPr lang="en-US" altLang="zh-CN" sz="2000" b="1" dirty="0">
              <a:solidFill>
                <a:srgbClr val="0070C0"/>
              </a:solidFill>
              <a:latin typeface="Arial Black" panose="020B0A04020102020204" pitchFamily="2" charset="0"/>
              <a:sym typeface="Arial Black" panose="020B0A04020102020204" pitchFamily="2" charset="0"/>
            </a:endParaRPr>
          </a:p>
          <a:p>
            <a:pPr eaLnBrk="1" hangingPunct="1"/>
            <a:r>
              <a:rPr lang="en-US" altLang="zh-CN" sz="2000" b="1" dirty="0">
                <a:solidFill>
                  <a:srgbClr val="0070C0"/>
                </a:solidFill>
                <a:latin typeface="Arial Black" panose="020B0A04020102020204" pitchFamily="2" charset="0"/>
                <a:sym typeface="Arial Black" panose="020B0A04020102020204" pitchFamily="2" charset="0"/>
              </a:rPr>
              <a:t>Disney-MGM </a:t>
            </a:r>
            <a:r>
              <a:rPr lang="zh-CN" altLang="en-US" sz="2000" b="1" dirty="0">
                <a:solidFill>
                  <a:srgbClr val="0070C0"/>
                </a:solidFill>
                <a:latin typeface="Arial Black" panose="020B0A04020102020204" pitchFamily="2" charset="0"/>
                <a:sym typeface="Arial Black" panose="020B0A04020102020204" pitchFamily="2" charset="0"/>
              </a:rPr>
              <a:t>迪士尼米高梅影城</a:t>
            </a:r>
            <a:endParaRPr lang="zh-CN" altLang="en-US" sz="2000" b="1" dirty="0">
              <a:solidFill>
                <a:srgbClr val="0070C0"/>
              </a:solidFill>
              <a:latin typeface="Arial Black" panose="020B0A04020102020204" pitchFamily="2" charset="0"/>
              <a:sym typeface="Arial Black" panose="020B0A04020102020204" pitchFamily="2" charset="0"/>
            </a:endParaRPr>
          </a:p>
        </p:txBody>
      </p:sp>
      <p:sp>
        <p:nvSpPr>
          <p:cNvPr id="29699" name="TextBox 2"/>
          <p:cNvSpPr/>
          <p:nvPr/>
        </p:nvSpPr>
        <p:spPr>
          <a:xfrm>
            <a:off x="36513" y="2852738"/>
            <a:ext cx="9647237" cy="3109912"/>
          </a:xfrm>
          <a:prstGeom prst="rect">
            <a:avLst/>
          </a:prstGeom>
          <a:noFill/>
          <a:ln w="9525">
            <a:noFill/>
          </a:ln>
        </p:spPr>
        <p:txBody>
          <a:bodyPr>
            <a:spAutoFit/>
          </a:bodyPr>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dispose  </a:t>
            </a:r>
            <a:r>
              <a:rPr lang="zh-CN" altLang="en-US" b="1" dirty="0">
                <a:solidFill>
                  <a:srgbClr val="0070C0"/>
                </a:solidFill>
                <a:latin typeface="Arial Black" panose="020B0A04020102020204" pitchFamily="2" charset="0"/>
                <a:sym typeface="Arial Black" panose="020B0A04020102020204" pitchFamily="2" charset="0"/>
              </a:rPr>
              <a:t>解决</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Trash </a:t>
            </a:r>
            <a:r>
              <a:rPr lang="zh-CN" altLang="en-US" b="1" dirty="0">
                <a:solidFill>
                  <a:srgbClr val="0070C0"/>
                </a:solidFill>
                <a:latin typeface="Arial Black" panose="020B0A04020102020204" pitchFamily="2" charset="0"/>
                <a:sym typeface="Arial Black" panose="020B0A04020102020204" pitchFamily="2" charset="0"/>
              </a:rPr>
              <a:t>垃圾</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70C0"/>
                </a:solidFill>
                <a:latin typeface="Arial Black" panose="020B0A04020102020204" pitchFamily="2" charset="0"/>
                <a:sym typeface="Arial Black" panose="020B0A04020102020204" pitchFamily="2" charset="0"/>
              </a:rPr>
              <a:t>                                                                   trash compactor  </a:t>
            </a:r>
            <a:r>
              <a:rPr lang="zh-CN" altLang="en-US" b="1" dirty="0">
                <a:solidFill>
                  <a:srgbClr val="0070C0"/>
                </a:solidFill>
                <a:latin typeface="Arial Black" panose="020B0A04020102020204" pitchFamily="2" charset="0"/>
                <a:sym typeface="Arial Black" panose="020B0A04020102020204" pitchFamily="2" charset="0"/>
              </a:rPr>
              <a:t>垃圾压缩机</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relent  </a:t>
            </a:r>
            <a:r>
              <a:rPr lang="zh-CN" altLang="en-US" b="1" dirty="0">
                <a:solidFill>
                  <a:srgbClr val="0070C0"/>
                </a:solidFill>
                <a:latin typeface="Arial Black" panose="020B0A04020102020204" pitchFamily="2" charset="0"/>
                <a:sym typeface="Arial Black" panose="020B0A04020102020204" pitchFamily="2" charset="0"/>
              </a:rPr>
              <a:t>温和</a:t>
            </a:r>
            <a:r>
              <a:rPr lang="en-US" altLang="zh-CN" b="1" dirty="0">
                <a:solidFill>
                  <a:srgbClr val="0070C0"/>
                </a:solidFill>
                <a:latin typeface="Arial Black" panose="020B0A04020102020204" pitchFamily="2" charset="0"/>
                <a:sym typeface="Arial Black" panose="020B0A04020102020204" pitchFamily="2" charset="0"/>
              </a:rPr>
              <a:t>/</a:t>
            </a:r>
            <a:r>
              <a:rPr lang="zh-CN" altLang="en-US" b="1" dirty="0">
                <a:solidFill>
                  <a:srgbClr val="0070C0"/>
                </a:solidFill>
                <a:latin typeface="Arial Black" panose="020B0A04020102020204" pitchFamily="2" charset="0"/>
                <a:sym typeface="Arial Black" panose="020B0A04020102020204" pitchFamily="2" charset="0"/>
              </a:rPr>
              <a:t>缓和</a:t>
            </a:r>
            <a:r>
              <a:rPr lang="en-US" altLang="zh-CN" b="1" dirty="0">
                <a:solidFill>
                  <a:srgbClr val="0070C0"/>
                </a:solidFill>
                <a:latin typeface="Arial Black" panose="020B0A04020102020204" pitchFamily="2" charset="0"/>
                <a:sym typeface="Arial Black" panose="020B0A04020102020204" pitchFamily="2" charset="0"/>
              </a:rPr>
              <a:t>/</a:t>
            </a:r>
            <a:r>
              <a:rPr lang="zh-CN" altLang="en-US" b="1" dirty="0">
                <a:solidFill>
                  <a:srgbClr val="0070C0"/>
                </a:solidFill>
                <a:latin typeface="Arial Black" panose="020B0A04020102020204" pitchFamily="2" charset="0"/>
                <a:sym typeface="Arial Black" panose="020B0A04020102020204" pitchFamily="2" charset="0"/>
              </a:rPr>
              <a:t>减轻</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70C0"/>
                </a:solidFill>
                <a:latin typeface="Arial Black" panose="020B0A04020102020204" pitchFamily="2" charset="0"/>
                <a:sym typeface="Arial Black" panose="020B0A04020102020204" pitchFamily="2" charset="0"/>
              </a:rPr>
              <a:t>                                                                    Frontierland  </a:t>
            </a:r>
            <a:r>
              <a:rPr lang="zh-CN" altLang="en-US" b="1" dirty="0">
                <a:solidFill>
                  <a:srgbClr val="0070C0"/>
                </a:solidFill>
                <a:latin typeface="Arial Black" panose="020B0A04020102020204" pitchFamily="2" charset="0"/>
                <a:sym typeface="Arial Black" panose="020B0A04020102020204" pitchFamily="2" charset="0"/>
              </a:rPr>
              <a:t>边域世界</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Anaheim  </a:t>
            </a:r>
            <a:r>
              <a:rPr lang="zh-CN" altLang="en-US" b="1" dirty="0">
                <a:solidFill>
                  <a:srgbClr val="0070C0"/>
                </a:solidFill>
                <a:latin typeface="Arial Black" panose="020B0A04020102020204" pitchFamily="2" charset="0"/>
                <a:sym typeface="Arial Black" panose="020B0A04020102020204" pitchFamily="2" charset="0"/>
              </a:rPr>
              <a:t>阿纳海姆</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yen</a:t>
            </a:r>
            <a:r>
              <a:rPr lang="zh-CN" altLang="en-US" b="1" dirty="0">
                <a:solidFill>
                  <a:srgbClr val="0070C0"/>
                </a:solidFill>
                <a:latin typeface="Arial Black" panose="020B0A04020102020204" pitchFamily="2" charset="0"/>
                <a:sym typeface="Arial Black" panose="020B0A04020102020204" pitchFamily="2" charset="0"/>
              </a:rPr>
              <a:t>  日元</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demographics  </a:t>
            </a:r>
            <a:r>
              <a:rPr lang="zh-CN" altLang="en-US" b="1" dirty="0">
                <a:solidFill>
                  <a:srgbClr val="0070C0"/>
                </a:solidFill>
                <a:latin typeface="Arial Black" panose="020B0A04020102020204" pitchFamily="2" charset="0"/>
                <a:sym typeface="Arial Black" panose="020B0A04020102020204" pitchFamily="2" charset="0"/>
              </a:rPr>
              <a:t>人口统计资料</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0000"/>
                </a:solidFill>
                <a:latin typeface="Century Schoolbook" pitchFamily="2" charset="0"/>
                <a:sym typeface="Century Schoolbook" pitchFamily="2" charset="0"/>
              </a:rPr>
              <a:t>                                                                                 </a:t>
            </a:r>
            <a:r>
              <a:rPr lang="en-US" altLang="zh-CN" b="1" dirty="0">
                <a:solidFill>
                  <a:srgbClr val="0070C0"/>
                </a:solidFill>
                <a:latin typeface="Arial Black" panose="020B0A04020102020204" pitchFamily="2" charset="0"/>
                <a:sym typeface="Arial Black" panose="020B0A04020102020204" pitchFamily="2" charset="0"/>
              </a:rPr>
              <a:t>map out  </a:t>
            </a:r>
            <a:r>
              <a:rPr lang="zh-CN" altLang="en-US" b="1" dirty="0">
                <a:solidFill>
                  <a:srgbClr val="0070C0"/>
                </a:solidFill>
                <a:latin typeface="Arial Black" panose="020B0A04020102020204" pitchFamily="2" charset="0"/>
                <a:sym typeface="Arial Black" panose="020B0A04020102020204" pitchFamily="2" charset="0"/>
              </a:rPr>
              <a:t>筹划</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r>
              <a:rPr lang="en-US" altLang="zh-CN" b="1" dirty="0">
                <a:solidFill>
                  <a:srgbClr val="0070C0"/>
                </a:solidFill>
                <a:latin typeface="Arial Black" panose="020B0A04020102020204" pitchFamily="2" charset="0"/>
                <a:sym typeface="Arial Black" panose="020B0A04020102020204" pitchFamily="2" charset="0"/>
              </a:rPr>
              <a:t>                                                                     stake  </a:t>
            </a:r>
            <a:r>
              <a:rPr lang="zh-CN" altLang="en-US" b="1" dirty="0">
                <a:solidFill>
                  <a:srgbClr val="0070C0"/>
                </a:solidFill>
                <a:latin typeface="Arial Black" panose="020B0A04020102020204" pitchFamily="2" charset="0"/>
                <a:sym typeface="Arial Black" panose="020B0A04020102020204" pitchFamily="2" charset="0"/>
              </a:rPr>
              <a:t>资助 赌注</a:t>
            </a:r>
            <a:endParaRPr lang="en-US" altLang="zh-CN" b="1" dirty="0">
              <a:solidFill>
                <a:srgbClr val="0070C0"/>
              </a:solidFill>
              <a:latin typeface="Arial Black" panose="020B0A04020102020204" pitchFamily="2" charset="0"/>
              <a:sym typeface="Arial Black" panose="020B0A04020102020204" pitchFamily="2" charset="0"/>
            </a:endParaRPr>
          </a:p>
          <a:p>
            <a:pPr eaLnBrk="1" hangingPunct="1"/>
            <a:endParaRPr lang="zh-CN" altLang="en-US" b="1" dirty="0">
              <a:solidFill>
                <a:srgbClr val="000000"/>
              </a:solidFill>
              <a:latin typeface="Century Schoolbook" pitchFamily="2" charset="0"/>
              <a:sym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文本框 30721"/>
          <p:cNvSpPr txBox="1"/>
          <p:nvPr/>
        </p:nvSpPr>
        <p:spPr>
          <a:xfrm>
            <a:off x="250825" y="0"/>
            <a:ext cx="8497888" cy="6967538"/>
          </a:xfrm>
          <a:prstGeom prst="rect">
            <a:avLst/>
          </a:prstGeom>
          <a:noFill/>
          <a:ln w="9525">
            <a:noFill/>
          </a:ln>
        </p:spPr>
        <p:txBody>
          <a:bodyPr>
            <a:spAutoFit/>
          </a:bodyPr>
          <a:p>
            <a:pPr>
              <a:spcBef>
                <a:spcPct val="50000"/>
              </a:spcBef>
            </a:pPr>
            <a:r>
              <a:rPr lang="en-US" altLang="zh-CN" b="1" dirty="0">
                <a:solidFill>
                  <a:srgbClr val="0070C0"/>
                </a:solidFill>
                <a:latin typeface="Arial" panose="020B0604020202020204" pitchFamily="34" charset="0"/>
              </a:rPr>
              <a:t>Disney Company did encounter a few unique cultural problems when developing Tokyo Disneyland.</a:t>
            </a:r>
            <a:endParaRPr lang="zh-CN" altLang="en-US"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迪斯尼公司在发展东京迪斯尼乐园时遇到了一些独特的文化问题。</a:t>
            </a:r>
            <a:endParaRPr lang="zh-CN" altLang="en-US" b="1" dirty="0">
              <a:solidFill>
                <a:srgbClr val="0070C0"/>
              </a:solidFill>
              <a:latin typeface="Arial" panose="020B0604020202020204" pitchFamily="34" charset="0"/>
            </a:endParaRPr>
          </a:p>
          <a:p>
            <a:pPr>
              <a:spcBef>
                <a:spcPct val="50000"/>
              </a:spcBef>
            </a:pPr>
            <a:r>
              <a:rPr lang="en-US" altLang="zh-CN" b="1" dirty="0">
                <a:solidFill>
                  <a:srgbClr val="0070C0"/>
                </a:solidFill>
                <a:latin typeface="Arial" panose="020B0604020202020204" pitchFamily="34" charset="0"/>
              </a:rPr>
              <a:t>The problem: how to dispose of some 250 tons of trash that would be generated weekly by Tokyo Disneyland visitors.</a:t>
            </a:r>
            <a:endParaRPr lang="en-US" altLang="zh-CN"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问题：如何处理一些</a:t>
            </a:r>
            <a:r>
              <a:rPr lang="en-US" altLang="zh-CN" b="1" dirty="0">
                <a:solidFill>
                  <a:srgbClr val="0070C0"/>
                </a:solidFill>
                <a:latin typeface="Arial" panose="020B0604020202020204" pitchFamily="34" charset="0"/>
              </a:rPr>
              <a:t>250</a:t>
            </a:r>
            <a:r>
              <a:rPr lang="zh-CN" altLang="en-US" b="1" dirty="0">
                <a:solidFill>
                  <a:srgbClr val="0070C0"/>
                </a:solidFill>
                <a:latin typeface="Arial" panose="020B0604020202020204" pitchFamily="34" charset="0"/>
              </a:rPr>
              <a:t>吨的垃圾，这些垃圾将由东京迪斯尼乐园游客每周生成。</a:t>
            </a:r>
            <a:endParaRPr lang="zh-CN" altLang="en-US" b="1" dirty="0">
              <a:solidFill>
                <a:srgbClr val="0070C0"/>
              </a:solidFill>
              <a:latin typeface="Arial" panose="020B0604020202020204" pitchFamily="34" charset="0"/>
            </a:endParaRPr>
          </a:p>
          <a:p>
            <a:pPr>
              <a:spcBef>
                <a:spcPct val="50000"/>
              </a:spcBef>
            </a:pPr>
            <a:r>
              <a:rPr lang="en-US" altLang="zh-CN" b="1" dirty="0">
                <a:solidFill>
                  <a:srgbClr val="0070C0"/>
                </a:solidFill>
                <a:latin typeface="Arial" panose="020B0604020202020204" pitchFamily="34" charset="0"/>
              </a:rPr>
              <a:t>The standard Disney solution: trash compactors.</a:t>
            </a:r>
            <a:endParaRPr lang="en-US" altLang="zh-CN"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迪士尼的标准解决方案：垃圾压实机。</a:t>
            </a:r>
            <a:endParaRPr lang="zh-CN" altLang="en-US" b="1" dirty="0">
              <a:solidFill>
                <a:srgbClr val="0070C0"/>
              </a:solidFill>
              <a:latin typeface="Arial" panose="020B0604020202020204" pitchFamily="34" charset="0"/>
            </a:endParaRPr>
          </a:p>
          <a:p>
            <a:pPr>
              <a:spcBef>
                <a:spcPct val="50000"/>
              </a:spcBef>
            </a:pPr>
            <a:r>
              <a:rPr lang="en-US" altLang="zh-CN" b="1" dirty="0">
                <a:solidFill>
                  <a:srgbClr val="0070C0"/>
                </a:solidFill>
                <a:latin typeface="Arial" panose="020B0604020202020204" pitchFamily="34" charset="0"/>
              </a:rPr>
              <a:t>The Japanese proposal: pigs to eat the trash and be slaughtered and sold at a profit.</a:t>
            </a:r>
            <a:endParaRPr lang="en-US" altLang="zh-CN"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日本提议：猪吃垃圾，被宰杀和销售利润。</a:t>
            </a:r>
            <a:endParaRPr lang="zh-CN" altLang="en-US" b="1" dirty="0">
              <a:solidFill>
                <a:srgbClr val="0070C0"/>
              </a:solidFill>
              <a:latin typeface="Arial" panose="020B0604020202020204" pitchFamily="34" charset="0"/>
            </a:endParaRPr>
          </a:p>
          <a:p>
            <a:pPr>
              <a:spcBef>
                <a:spcPct val="50000"/>
              </a:spcBef>
            </a:pPr>
            <a:r>
              <a:rPr lang="en-US" altLang="zh-CN" b="1" dirty="0">
                <a:solidFill>
                  <a:srgbClr val="0070C0"/>
                </a:solidFill>
                <a:latin typeface="Arial" panose="020B0604020202020204" pitchFamily="34" charset="0"/>
              </a:rPr>
              <a:t>James B. Cora and his team of some 150 operations experts did a little calculating and pointed out that it would take 100000 pigs to do the job.And then there would be the smell.</a:t>
            </a:r>
            <a:endParaRPr lang="en-US" altLang="zh-CN"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杰姆斯</a:t>
            </a:r>
            <a:r>
              <a:rPr lang="en-US" altLang="zh-CN" b="1" dirty="0">
                <a:solidFill>
                  <a:srgbClr val="0070C0"/>
                </a:solidFill>
                <a:latin typeface="Arial" panose="020B0604020202020204" pitchFamily="34" charset="0"/>
              </a:rPr>
              <a:t>B.</a:t>
            </a:r>
            <a:r>
              <a:rPr lang="zh-CN" altLang="en-US" b="1" dirty="0">
                <a:solidFill>
                  <a:srgbClr val="0070C0"/>
                </a:solidFill>
                <a:latin typeface="Arial" panose="020B0604020202020204" pitchFamily="34" charset="0"/>
              </a:rPr>
              <a:t>科拉和他的团队有</a:t>
            </a:r>
            <a:r>
              <a:rPr lang="en-US" altLang="zh-CN" b="1" dirty="0">
                <a:solidFill>
                  <a:srgbClr val="0070C0"/>
                </a:solidFill>
                <a:latin typeface="Arial" panose="020B0604020202020204" pitchFamily="34" charset="0"/>
              </a:rPr>
              <a:t>150</a:t>
            </a:r>
            <a:r>
              <a:rPr lang="zh-CN" altLang="en-US" b="1" dirty="0">
                <a:solidFill>
                  <a:srgbClr val="0070C0"/>
                </a:solidFill>
                <a:latin typeface="Arial" panose="020B0604020202020204" pitchFamily="34" charset="0"/>
              </a:rPr>
              <a:t>运营专家做了一个小小的计算指出它会带</a:t>
            </a:r>
            <a:r>
              <a:rPr lang="en-US" altLang="zh-CN" b="1" dirty="0">
                <a:solidFill>
                  <a:srgbClr val="0070C0"/>
                </a:solidFill>
                <a:latin typeface="Arial" panose="020B0604020202020204" pitchFamily="34" charset="0"/>
              </a:rPr>
              <a:t>100000</a:t>
            </a:r>
            <a:r>
              <a:rPr lang="zh-CN" altLang="en-US" b="1" dirty="0">
                <a:solidFill>
                  <a:srgbClr val="0070C0"/>
                </a:solidFill>
                <a:latin typeface="Arial" panose="020B0604020202020204" pitchFamily="34" charset="0"/>
              </a:rPr>
              <a:t>头猪来做这项工作。然后会有异味。</a:t>
            </a:r>
            <a:endParaRPr lang="zh-CN" altLang="en-US" b="1" dirty="0">
              <a:solidFill>
                <a:srgbClr val="0070C0"/>
              </a:solidFill>
              <a:latin typeface="Arial" panose="020B0604020202020204" pitchFamily="34" charset="0"/>
            </a:endParaRPr>
          </a:p>
          <a:p>
            <a:pPr>
              <a:spcBef>
                <a:spcPct val="50000"/>
              </a:spcBef>
            </a:pPr>
            <a:r>
              <a:rPr lang="en-US" altLang="zh-CN" b="1" dirty="0">
                <a:solidFill>
                  <a:srgbClr val="0070C0"/>
                </a:solidFill>
                <a:latin typeface="Arial" panose="020B0604020202020204" pitchFamily="34" charset="0"/>
              </a:rPr>
              <a:t>The Japanese relented.</a:t>
            </a:r>
            <a:endParaRPr lang="en-US" altLang="zh-CN" b="1" dirty="0">
              <a:solidFill>
                <a:srgbClr val="0070C0"/>
              </a:solidFill>
              <a:latin typeface="Arial" panose="020B0604020202020204" pitchFamily="34" charset="0"/>
            </a:endParaRPr>
          </a:p>
          <a:p>
            <a:pPr>
              <a:spcBef>
                <a:spcPct val="50000"/>
              </a:spcBef>
            </a:pPr>
            <a:r>
              <a:rPr lang="zh-CN" altLang="en-US" b="1" dirty="0">
                <a:solidFill>
                  <a:srgbClr val="0070C0"/>
                </a:solidFill>
                <a:latin typeface="Arial" panose="020B0604020202020204" pitchFamily="34" charset="0"/>
              </a:rPr>
              <a:t>日本让步了。</a:t>
            </a:r>
            <a:endParaRPr lang="en-US" altLang="zh-CN" b="1" dirty="0">
              <a:solidFill>
                <a:srgbClr val="0070C0"/>
              </a:solidFill>
              <a:latin typeface="Arial" panose="020B0604020202020204" pitchFamily="34" charset="0"/>
            </a:endParaRPr>
          </a:p>
          <a:p>
            <a:pPr>
              <a:spcBef>
                <a:spcPct val="50000"/>
              </a:spcBef>
            </a:pPr>
            <a:endParaRPr lang="en-US" altLang="zh-CN" b="1" dirty="0">
              <a:solidFill>
                <a:srgbClr val="0070C0"/>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文本框 31745"/>
          <p:cNvSpPr txBox="1"/>
          <p:nvPr/>
        </p:nvSpPr>
        <p:spPr>
          <a:xfrm>
            <a:off x="468313" y="333375"/>
            <a:ext cx="8207375" cy="366713"/>
          </a:xfrm>
          <a:prstGeom prst="rect">
            <a:avLst/>
          </a:prstGeom>
          <a:noFill/>
          <a:ln w="9525">
            <a:noFill/>
          </a:ln>
        </p:spPr>
        <p:txBody>
          <a:bodyPr>
            <a:spAutoFit/>
          </a:bodyPr>
          <a:p>
            <a:pPr>
              <a:spcBef>
                <a:spcPct val="50000"/>
              </a:spcBef>
            </a:pPr>
            <a:endParaRPr lang="zh-CN" altLang="en-US" dirty="0">
              <a:latin typeface="Arial" panose="020B0604020202020204" pitchFamily="34" charset="0"/>
            </a:endParaRPr>
          </a:p>
        </p:txBody>
      </p:sp>
      <p:sp>
        <p:nvSpPr>
          <p:cNvPr id="31747" name="文本框 31746"/>
          <p:cNvSpPr txBox="1"/>
          <p:nvPr/>
        </p:nvSpPr>
        <p:spPr>
          <a:xfrm>
            <a:off x="250825" y="188913"/>
            <a:ext cx="8424863" cy="366712"/>
          </a:xfrm>
          <a:prstGeom prst="rect">
            <a:avLst/>
          </a:prstGeom>
          <a:noFill/>
          <a:ln w="9525">
            <a:noFill/>
          </a:ln>
        </p:spPr>
        <p:txBody>
          <a:bodyPr>
            <a:spAutoFit/>
          </a:bodyPr>
          <a:p>
            <a:pPr>
              <a:spcBef>
                <a:spcPct val="50000"/>
              </a:spcBef>
            </a:pPr>
            <a:endParaRPr lang="zh-CN" altLang="en-US" dirty="0">
              <a:latin typeface="Arial" panose="020B0604020202020204" pitchFamily="34" charset="0"/>
            </a:endParaRPr>
          </a:p>
        </p:txBody>
      </p:sp>
      <p:sp>
        <p:nvSpPr>
          <p:cNvPr id="31748" name="文本框 31747"/>
          <p:cNvSpPr txBox="1"/>
          <p:nvPr/>
        </p:nvSpPr>
        <p:spPr>
          <a:xfrm>
            <a:off x="179388" y="260350"/>
            <a:ext cx="8642350" cy="4291013"/>
          </a:xfrm>
          <a:prstGeom prst="rect">
            <a:avLst/>
          </a:prstGeom>
          <a:noFill/>
          <a:ln w="9525">
            <a:noFill/>
          </a:ln>
        </p:spPr>
        <p:txBody>
          <a:bodyPr>
            <a:spAutoFit/>
          </a:bodyPr>
          <a:p>
            <a:pPr>
              <a:spcBef>
                <a:spcPct val="50000"/>
              </a:spcBef>
            </a:pPr>
            <a:r>
              <a:rPr lang="en-US" altLang="zh-CN" sz="2400" b="1" dirty="0">
                <a:solidFill>
                  <a:srgbClr val="0070C0"/>
                </a:solidFill>
                <a:latin typeface="Arial" panose="020B0604020202020204" pitchFamily="34" charset="0"/>
              </a:rPr>
              <a:t>The Japanese were also uneasy about a rustic-looking Westernland. Tokyo’s version of Frontierland. “The Japanese like everything fresh and new when they put it in,” said Cora. ”They kept painting the wood and we kept saying, ’No, it’s got to look old.’” Finally the Disney crew took the Japanese to Anaheim to give them a firsthand look at the Old West. </a:t>
            </a:r>
            <a:endParaRPr lang="en-US" altLang="zh-CN" sz="2400" b="1" dirty="0">
              <a:solidFill>
                <a:srgbClr val="0070C0"/>
              </a:solidFill>
              <a:latin typeface="Arial" panose="020B0604020202020204" pitchFamily="34" charset="0"/>
            </a:endParaRPr>
          </a:p>
          <a:p>
            <a:pPr>
              <a:spcBef>
                <a:spcPct val="50000"/>
              </a:spcBef>
            </a:pPr>
            <a:r>
              <a:rPr lang="zh-CN" altLang="en-US" sz="2400" b="1" dirty="0">
                <a:solidFill>
                  <a:srgbClr val="0070C0"/>
                </a:solidFill>
                <a:latin typeface="Arial" panose="020B0604020202020204" pitchFamily="34" charset="0"/>
              </a:rPr>
              <a:t>日本也对质朴的</a:t>
            </a:r>
            <a:r>
              <a:rPr lang="en-US" altLang="zh-CN" sz="2400" b="1" dirty="0">
                <a:solidFill>
                  <a:srgbClr val="0070C0"/>
                </a:solidFill>
                <a:latin typeface="Arial" panose="020B0604020202020204" pitchFamily="34" charset="0"/>
              </a:rPr>
              <a:t>westernland</a:t>
            </a:r>
            <a:r>
              <a:rPr lang="zh-CN" altLang="en-US" sz="2400" b="1" dirty="0">
                <a:solidFill>
                  <a:srgbClr val="0070C0"/>
                </a:solidFill>
                <a:latin typeface="Arial" panose="020B0604020202020204" pitchFamily="34" charset="0"/>
              </a:rPr>
              <a:t>不安。东京版的边疆。“日本人喜欢一切新鲜的事物，”科拉。“他们不停地画木，我们不停地说，“不，这看起来过时了。”最后，迪士尼船员把日本海姆给他们亲眼看看古老西部。</a:t>
            </a:r>
            <a:endParaRPr lang="en-US" altLang="zh-CN" sz="2400" b="1" dirty="0">
              <a:solidFill>
                <a:srgbClr val="0070C0"/>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文本框 32769"/>
          <p:cNvSpPr txBox="1"/>
          <p:nvPr/>
        </p:nvSpPr>
        <p:spPr>
          <a:xfrm>
            <a:off x="250825" y="188913"/>
            <a:ext cx="8569325" cy="366712"/>
          </a:xfrm>
          <a:prstGeom prst="rect">
            <a:avLst/>
          </a:prstGeom>
          <a:noFill/>
          <a:ln w="9525">
            <a:noFill/>
          </a:ln>
        </p:spPr>
        <p:txBody>
          <a:bodyPr>
            <a:spAutoFit/>
          </a:bodyPr>
          <a:p>
            <a:pPr>
              <a:spcBef>
                <a:spcPct val="50000"/>
              </a:spcBef>
            </a:pPr>
            <a:endParaRPr lang="zh-CN" altLang="en-US" dirty="0">
              <a:latin typeface="Arial" panose="020B0604020202020204" pitchFamily="34" charset="0"/>
            </a:endParaRPr>
          </a:p>
        </p:txBody>
      </p:sp>
      <p:sp>
        <p:nvSpPr>
          <p:cNvPr id="32771" name="文本框 32770"/>
          <p:cNvSpPr txBox="1"/>
          <p:nvPr/>
        </p:nvSpPr>
        <p:spPr>
          <a:xfrm>
            <a:off x="179388" y="188913"/>
            <a:ext cx="8640762" cy="5934075"/>
          </a:xfrm>
          <a:prstGeom prst="rect">
            <a:avLst/>
          </a:prstGeom>
          <a:noFill/>
          <a:ln w="9525">
            <a:noFill/>
          </a:ln>
        </p:spPr>
        <p:txBody>
          <a:bodyPr>
            <a:spAutoFit/>
          </a:bodyPr>
          <a:p>
            <a:pPr>
              <a:spcBef>
                <a:spcPct val="50000"/>
              </a:spcBef>
            </a:pPr>
            <a:r>
              <a:rPr lang="en-US" altLang="zh-CN" sz="2400" b="1" dirty="0">
                <a:solidFill>
                  <a:srgbClr val="0070C0"/>
                </a:solidFill>
                <a:latin typeface="Arial" panose="020B0604020202020204" pitchFamily="34" charset="0"/>
              </a:rPr>
              <a:t>    Tokyo Disneyland opened just as the yen escalated in value against the dollar and the income level of the Japanese registered a phenomenal improvement. During this era of affluence , Tokyo Disneyland triggered an interest in leisure. Its great success spurred the construction of “ leisurelands throughout the country. This created an increase in the Japanese people’s orientation toward leisure. But demographics are the real key to Tokyo Disneyland’s success. Thirty million Japanese live within 30 miles of the park. There are three times more than the number of people in the same proximity to Anaheim’s Disneyland. With the park proven such an unqualified hit and nearing capacity Oriental Land and Disney mapped out plans for a version of the Disney-MGM studio tour next door. This time, Disney talked about taking a 50 percent stake in the project. </a:t>
            </a:r>
            <a:endParaRPr lang="en-US" altLang="zh-CN" sz="2400" b="1" dirty="0">
              <a:solidFill>
                <a:srgbClr val="0070C0"/>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文本框 33793"/>
          <p:cNvSpPr txBox="1"/>
          <p:nvPr/>
        </p:nvSpPr>
        <p:spPr>
          <a:xfrm>
            <a:off x="250825" y="404813"/>
            <a:ext cx="8424863" cy="4291012"/>
          </a:xfrm>
          <a:prstGeom prst="rect">
            <a:avLst/>
          </a:prstGeom>
          <a:noFill/>
          <a:ln w="9525">
            <a:noFill/>
          </a:ln>
        </p:spPr>
        <p:txBody>
          <a:bodyPr>
            <a:spAutoFit/>
          </a:bodyPr>
          <a:p>
            <a:pPr>
              <a:spcBef>
                <a:spcPct val="50000"/>
              </a:spcBef>
            </a:pPr>
            <a:r>
              <a:rPr lang="zh-CN" altLang="en-US" b="1" dirty="0">
                <a:solidFill>
                  <a:srgbClr val="0070C0"/>
                </a:solidFill>
                <a:latin typeface="Arial" panose="020B0604020202020204" pitchFamily="34" charset="0"/>
              </a:rPr>
              <a:t>    </a:t>
            </a:r>
            <a:r>
              <a:rPr lang="zh-CN" altLang="en-US" sz="2400" b="1" dirty="0">
                <a:solidFill>
                  <a:srgbClr val="0070C0"/>
                </a:solidFill>
                <a:latin typeface="Arial" panose="020B0604020202020204" pitchFamily="34" charset="0"/>
              </a:rPr>
              <a:t>东京迪斯尼乐园的价值与美元的价值和日本的收入水平有了显著的改善，这一过程就打开了。在这个富裕的时代，东京迪斯尼乐园引发了对休闲的兴趣。其杰出的成功刺激了“全国</a:t>
            </a:r>
            <a:r>
              <a:rPr lang="en-US" altLang="zh-CN" sz="2400" b="1" dirty="0">
                <a:solidFill>
                  <a:srgbClr val="0070C0"/>
                </a:solidFill>
                <a:latin typeface="Arial" panose="020B0604020202020204" pitchFamily="34" charset="0"/>
              </a:rPr>
              <a:t>leisurelands</a:t>
            </a:r>
            <a:r>
              <a:rPr lang="zh-CN" altLang="en-US" sz="2400" b="1" dirty="0">
                <a:solidFill>
                  <a:srgbClr val="0070C0"/>
                </a:solidFill>
                <a:latin typeface="Arial" panose="020B0604020202020204" pitchFamily="34" charset="0"/>
              </a:rPr>
              <a:t>建设。这创造了日本民众对休闲的取向的增加。但人口统计数据是东京迪斯尼乐园成功的关键。三千万日本人生活在</a:t>
            </a:r>
            <a:r>
              <a:rPr lang="en-US" altLang="zh-CN" sz="2400" b="1" dirty="0">
                <a:solidFill>
                  <a:srgbClr val="0070C0"/>
                </a:solidFill>
                <a:latin typeface="Arial" panose="020B0604020202020204" pitchFamily="34" charset="0"/>
              </a:rPr>
              <a:t>30</a:t>
            </a:r>
            <a:r>
              <a:rPr lang="zh-CN" altLang="en-US" sz="2400" b="1" dirty="0">
                <a:solidFill>
                  <a:srgbClr val="0070C0"/>
                </a:solidFill>
                <a:latin typeface="Arial" panose="020B0604020202020204" pitchFamily="34" charset="0"/>
              </a:rPr>
              <a:t>英里的公园里。有三次以上在同一距离的人数到阿纳海姆的迪斯尼乐园。随着园区证明这样一个不合格的打接近容量东方土地和迪士尼映射为一个版的迪士尼米高梅工作室的隔壁的计划。这一次，迪斯尼谈到了在该项目中的百分之</a:t>
            </a:r>
            <a:r>
              <a:rPr lang="en-US" altLang="zh-CN" sz="2400" b="1" dirty="0">
                <a:solidFill>
                  <a:srgbClr val="0070C0"/>
                </a:solidFill>
                <a:latin typeface="Arial" panose="020B0604020202020204" pitchFamily="34" charset="0"/>
              </a:rPr>
              <a:t>50</a:t>
            </a:r>
            <a:r>
              <a:rPr lang="zh-CN" altLang="en-US" sz="2400" b="1" dirty="0">
                <a:solidFill>
                  <a:srgbClr val="0070C0"/>
                </a:solidFill>
                <a:latin typeface="Arial" panose="020B0604020202020204" pitchFamily="34" charset="0"/>
              </a:rPr>
              <a:t>的股份。</a:t>
            </a:r>
            <a:endParaRPr lang="en-US" altLang="zh-CN" sz="2400" b="1" dirty="0">
              <a:solidFill>
                <a:srgbClr val="0070C0"/>
              </a:solidFill>
              <a:latin typeface="Arial" panose="020B0604020202020204" pitchFamily="34" charset="0"/>
            </a:endParaRPr>
          </a:p>
          <a:p>
            <a:pPr>
              <a:spcBef>
                <a:spcPct val="50000"/>
              </a:spcBef>
            </a:pPr>
            <a:endParaRPr lang="zh-CN" altLang="en-US" sz="2400" dirty="0">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图片 2"/>
          <p:cNvPicPr>
            <a:picLocks noChangeAspect="1"/>
          </p:cNvPicPr>
          <p:nvPr/>
        </p:nvPicPr>
        <p:blipFill>
          <a:blip r:embed="rId1"/>
          <a:stretch>
            <a:fillRect/>
          </a:stretch>
        </p:blipFill>
        <p:spPr>
          <a:xfrm>
            <a:off x="6227763" y="4554538"/>
            <a:ext cx="1728787" cy="2303462"/>
          </a:xfrm>
          <a:prstGeom prst="rect">
            <a:avLst/>
          </a:prstGeom>
          <a:noFill/>
          <a:ln w="9525">
            <a:noFill/>
          </a:ln>
        </p:spPr>
      </p:pic>
      <p:sp>
        <p:nvSpPr>
          <p:cNvPr id="34819" name="文本框 3"/>
          <p:cNvSpPr txBox="1"/>
          <p:nvPr/>
        </p:nvSpPr>
        <p:spPr>
          <a:xfrm>
            <a:off x="252413" y="981075"/>
            <a:ext cx="8423275" cy="2862263"/>
          </a:xfrm>
          <a:prstGeom prst="rect">
            <a:avLst/>
          </a:prstGeom>
          <a:noFill/>
          <a:ln w="9525">
            <a:noFill/>
          </a:ln>
        </p:spPr>
        <p:txBody>
          <a:bodyPr>
            <a:spAutoFit/>
          </a:bodyPr>
          <a:p>
            <a:pPr eaLnBrk="1" hangingPunct="1"/>
            <a:r>
              <a:rPr lang="en-US" altLang="zh-CN" sz="5400" b="1" dirty="0">
                <a:solidFill>
                  <a:srgbClr val="0070C0"/>
                </a:solidFill>
                <a:latin typeface="Arial" panose="020B0604020202020204" pitchFamily="34" charset="0"/>
              </a:rPr>
              <a:t>              The end</a:t>
            </a:r>
            <a:endParaRPr lang="en-US" altLang="zh-CN" sz="5400" b="1" dirty="0">
              <a:solidFill>
                <a:srgbClr val="0070C0"/>
              </a:solidFill>
              <a:latin typeface="Arial" panose="020B0604020202020204" pitchFamily="34" charset="0"/>
            </a:endParaRPr>
          </a:p>
          <a:p>
            <a:pPr eaLnBrk="1" hangingPunct="1"/>
            <a:r>
              <a:rPr lang="en-US" altLang="zh-CN" sz="5400" b="1" dirty="0">
                <a:latin typeface="Arial" panose="020B0604020202020204" pitchFamily="34" charset="0"/>
              </a:rPr>
              <a:t>     </a:t>
            </a:r>
            <a:r>
              <a:rPr lang="en-US" altLang="zh-CN" sz="5400" b="1" dirty="0">
                <a:solidFill>
                  <a:srgbClr val="0070C0"/>
                </a:solidFill>
                <a:latin typeface="Arial" panose="020B0604020202020204" pitchFamily="34" charset="0"/>
              </a:rPr>
              <a:t>Thank you for your</a:t>
            </a:r>
            <a:endParaRPr lang="en-US" altLang="zh-CN" sz="5400" b="1" dirty="0">
              <a:solidFill>
                <a:srgbClr val="0070C0"/>
              </a:solidFill>
              <a:latin typeface="Arial" panose="020B0604020202020204" pitchFamily="34" charset="0"/>
            </a:endParaRPr>
          </a:p>
          <a:p>
            <a:pPr eaLnBrk="1" hangingPunct="1"/>
            <a:r>
              <a:rPr lang="en-US" altLang="zh-CN" sz="5400" b="1" dirty="0">
                <a:solidFill>
                  <a:srgbClr val="0070C0"/>
                </a:solidFill>
                <a:latin typeface="Arial" panose="020B0604020202020204" pitchFamily="34" charset="0"/>
              </a:rPr>
              <a:t> watching and listenning</a:t>
            </a:r>
            <a:endParaRPr lang="zh-CN" altLang="en-US" sz="5400" b="1" dirty="0">
              <a:solidFill>
                <a:srgbClr val="0070C0"/>
              </a:solidFill>
              <a:latin typeface="Arial" panose="020B0604020202020204" pitchFamily="34" charset="0"/>
            </a:endParaRPr>
          </a:p>
          <a:p>
            <a:pPr eaLnBrk="1" hangingPunct="1"/>
            <a:endParaRPr lang="zh-CN" altLang="en-US"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凸显">
  <a:themeElements>
    <a:clrScheme name="">
      <a:dk1>
        <a:srgbClr val="000000"/>
      </a:dk1>
      <a:lt1>
        <a:srgbClr val="FFFFFF"/>
      </a:lt1>
      <a:dk2>
        <a:srgbClr val="575F6D"/>
      </a:dk2>
      <a:lt2>
        <a:srgbClr val="FFF39D"/>
      </a:lt2>
      <a:accent1>
        <a:srgbClr val="FE8637"/>
      </a:accent1>
      <a:accent2>
        <a:srgbClr val="7598D9"/>
      </a:accent2>
      <a:accent3>
        <a:srgbClr val="FFFFFF"/>
      </a:accent3>
      <a:accent4>
        <a:srgbClr val="000000"/>
      </a:accent4>
      <a:accent5>
        <a:srgbClr val="FFC3AE"/>
      </a:accent5>
      <a:accent6>
        <a:srgbClr val="6888C2"/>
      </a:accent6>
      <a:hlink>
        <a:srgbClr val="D2611C"/>
      </a:hlink>
      <a:folHlink>
        <a:srgbClr val="3B435B"/>
      </a:folHlink>
    </a:clrScheme>
    <a:fontScheme name="">
      <a:majorFont>
        <a:latin typeface="Century Schoolbook"/>
        <a:ea typeface="华文楷体"/>
        <a:cs typeface=""/>
      </a:majorFont>
      <a:minorFont>
        <a:latin typeface="Century Schoolbook"/>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575F6D"/>
        </a:dk2>
        <a:lt2>
          <a:srgbClr val="FFF39D"/>
        </a:lt2>
        <a:accent1>
          <a:srgbClr val="FE8637"/>
        </a:accent1>
        <a:accent2>
          <a:srgbClr val="7598D9"/>
        </a:accent2>
        <a:accent3>
          <a:srgbClr val="FFFFFF"/>
        </a:accent3>
        <a:accent4>
          <a:srgbClr val="000000"/>
        </a:accent4>
        <a:accent5>
          <a:srgbClr val="FFC3AE"/>
        </a:accent5>
        <a:accent6>
          <a:srgbClr val="6888C2"/>
        </a:accent6>
        <a:hlink>
          <a:srgbClr val="D2611C"/>
        </a:hlink>
        <a:folHlink>
          <a:srgbClr val="3B43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9842</Words>
  <Application>WPS 演示</Application>
  <PresentationFormat>在屏幕上显示</PresentationFormat>
  <Paragraphs>219</Paragraphs>
  <Slides>32</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32</vt:i4>
      </vt:variant>
    </vt:vector>
  </HeadingPairs>
  <TitlesOfParts>
    <vt:vector size="50" baseType="lpstr">
      <vt:lpstr>Arial</vt:lpstr>
      <vt:lpstr>宋体</vt:lpstr>
      <vt:lpstr>Wingdings</vt:lpstr>
      <vt:lpstr>Century Schoolbook</vt:lpstr>
      <vt:lpstr>Segoe Print</vt:lpstr>
      <vt:lpstr>华文楷体</vt:lpstr>
      <vt:lpstr>微软雅黑</vt:lpstr>
      <vt:lpstr>Wingdings 2</vt:lpstr>
      <vt:lpstr>Wingdings</vt:lpstr>
      <vt:lpstr>Calibri</vt:lpstr>
      <vt:lpstr>Bradley Hand ITC</vt:lpstr>
      <vt:lpstr>Arial Black</vt:lpstr>
      <vt:lpstr>楷体</vt:lpstr>
      <vt:lpstr>Arial Unicode MS</vt:lpstr>
      <vt:lpstr>华文楷体</vt:lpstr>
      <vt:lpstr>Sitka Small</vt:lpstr>
      <vt:lpstr>Kabel ITC</vt:lpstr>
      <vt:lpstr>凸显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lastModifiedBy>小麦穗</cp:lastModifiedBy>
  <cp:revision>35</cp:revision>
  <dcterms:created xsi:type="dcterms:W3CDTF">2015-09-18T06:28:00Z</dcterms:created>
  <dcterms:modified xsi:type="dcterms:W3CDTF">2026-02-01T03:53:30Z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997C2EF8C2F945079CAFDCDC75B1784F_13</vt:lpwstr>
  </property>
</Properties>
</file>